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Raleway"/>
      <p:regular r:id="rId26"/>
      <p:bold r:id="rId27"/>
      <p:italic r:id="rId28"/>
      <p:boldItalic r:id="rId29"/>
    </p:embeddedFont>
    <p:embeddedFont>
      <p:font typeface="Lato"/>
      <p:regular r:id="rId30"/>
      <p:bold r:id="rId31"/>
      <p:italic r:id="rId32"/>
      <p:boldItalic r:id="rId33"/>
    </p:embeddedFont>
    <p:embeddedFont>
      <p:font typeface="Open Sans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-regular.fntdata"/><Relationship Id="rId25" Type="http://schemas.openxmlformats.org/officeDocument/2006/relationships/slide" Target="slides/slide20.xml"/><Relationship Id="rId28" Type="http://schemas.openxmlformats.org/officeDocument/2006/relationships/font" Target="fonts/Raleway-italic.fntdata"/><Relationship Id="rId27" Type="http://schemas.openxmlformats.org/officeDocument/2006/relationships/font" Target="fonts/Raleway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aleway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bold.fntdata"/><Relationship Id="rId30" Type="http://schemas.openxmlformats.org/officeDocument/2006/relationships/font" Target="fonts/Lato-regular.fntdata"/><Relationship Id="rId11" Type="http://schemas.openxmlformats.org/officeDocument/2006/relationships/slide" Target="slides/slide6.xml"/><Relationship Id="rId33" Type="http://schemas.openxmlformats.org/officeDocument/2006/relationships/font" Target="fonts/Lato-boldItalic.fntdata"/><Relationship Id="rId10" Type="http://schemas.openxmlformats.org/officeDocument/2006/relationships/slide" Target="slides/slide5.xml"/><Relationship Id="rId32" Type="http://schemas.openxmlformats.org/officeDocument/2006/relationships/font" Target="fonts/Lato-italic.fntdata"/><Relationship Id="rId13" Type="http://schemas.openxmlformats.org/officeDocument/2006/relationships/slide" Target="slides/slide8.xml"/><Relationship Id="rId35" Type="http://schemas.openxmlformats.org/officeDocument/2006/relationships/font" Target="fonts/OpenSans-bold.fntdata"/><Relationship Id="rId12" Type="http://schemas.openxmlformats.org/officeDocument/2006/relationships/slide" Target="slides/slide7.xml"/><Relationship Id="rId34" Type="http://schemas.openxmlformats.org/officeDocument/2006/relationships/font" Target="fonts/OpenSans-regular.fntdata"/><Relationship Id="rId15" Type="http://schemas.openxmlformats.org/officeDocument/2006/relationships/slide" Target="slides/slide10.xml"/><Relationship Id="rId37" Type="http://schemas.openxmlformats.org/officeDocument/2006/relationships/font" Target="fonts/OpenSans-boldItalic.fntdata"/><Relationship Id="rId14" Type="http://schemas.openxmlformats.org/officeDocument/2006/relationships/slide" Target="slides/slide9.xml"/><Relationship Id="rId36" Type="http://schemas.openxmlformats.org/officeDocument/2006/relationships/font" Target="fonts/OpenSans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a3c898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6fa3c8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c6fa3c898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c6fa3c89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c6fa3c898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c6fa3c89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4fbed37a40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4fbed37a40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c6fa3c898_0_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c6fa3c89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c6fa3c898_0_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c6fa3c89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4fb9cd355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4fb9cd355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4fb9cd355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4fb9cd355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4fb9cd355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4fb9cd355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4fb9cd3555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4fb9cd3555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4fb9cd3555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4fb9cd3555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4fb9cd3555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4fb9cd3555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4fb9cd3555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4fb9cd3555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4fb9cd3555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4fb9cd3555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4fb9cd3555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4fb9cd3555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4fb9cd3555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4fb9cd3555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500f8f6cd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500f8f6cd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c6fa3c898_0_2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c6fa3c898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c6fa3c898_0_7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c6fa3c898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4fbed374f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4fbed374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Foxcore Retail Case Analysis</a:t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Presented By: Hetal Virendrabhai Gandhi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         Akanksha Shrivastava</a:t>
            </a:r>
            <a:br>
              <a:rPr lang="en"/>
            </a:br>
            <a:r>
              <a:rPr lang="en"/>
              <a:t>                                 Anandi Singh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         Unnati Agrawal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         Diana Nyaama Asilga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         Jahnvi Kansara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>
            <a:off x="265500" y="1912650"/>
            <a:ext cx="4045200" cy="131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79" name="Google Shape;79;p1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Open Sans"/>
              <a:buAutoNum type="arabicParenR"/>
            </a:pPr>
            <a:r>
              <a:rPr lang="en" sz="1700">
                <a:latin typeface="Open Sans"/>
                <a:ea typeface="Open Sans"/>
                <a:cs typeface="Open Sans"/>
                <a:sym typeface="Open Sans"/>
              </a:rPr>
              <a:t>Introduction</a:t>
            </a:r>
            <a:endParaRPr sz="1700">
              <a:latin typeface="Open Sans"/>
              <a:ea typeface="Open Sans"/>
              <a:cs typeface="Open Sans"/>
              <a:sym typeface="Open San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Open Sans"/>
              <a:buAutoNum type="arabicParenR"/>
            </a:pPr>
            <a:r>
              <a:rPr lang="en" sz="1700">
                <a:latin typeface="Open Sans"/>
                <a:ea typeface="Open Sans"/>
                <a:cs typeface="Open Sans"/>
                <a:sym typeface="Open Sans"/>
              </a:rPr>
              <a:t>Problem Statement</a:t>
            </a:r>
            <a:endParaRPr sz="1700">
              <a:latin typeface="Open Sans"/>
              <a:ea typeface="Open Sans"/>
              <a:cs typeface="Open Sans"/>
              <a:sym typeface="Open San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Open Sans"/>
              <a:buAutoNum type="arabicParenR"/>
            </a:pPr>
            <a:r>
              <a:rPr lang="en" sz="1700">
                <a:latin typeface="Open Sans"/>
                <a:ea typeface="Open Sans"/>
                <a:cs typeface="Open Sans"/>
                <a:sym typeface="Open Sans"/>
              </a:rPr>
              <a:t>Objective </a:t>
            </a:r>
            <a:endParaRPr sz="1700">
              <a:latin typeface="Open Sans"/>
              <a:ea typeface="Open Sans"/>
              <a:cs typeface="Open Sans"/>
              <a:sym typeface="Open San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Open Sans"/>
              <a:buAutoNum type="arabicParenR"/>
            </a:pPr>
            <a:r>
              <a:rPr lang="en" sz="1700">
                <a:latin typeface="Open Sans"/>
                <a:ea typeface="Open Sans"/>
                <a:cs typeface="Open Sans"/>
                <a:sym typeface="Open Sans"/>
              </a:rPr>
              <a:t>Proposed solution</a:t>
            </a:r>
            <a:endParaRPr sz="1700">
              <a:latin typeface="Open Sans"/>
              <a:ea typeface="Open Sans"/>
              <a:cs typeface="Open Sans"/>
              <a:sym typeface="Open San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Open Sans"/>
              <a:buAutoNum type="arabicParenR"/>
            </a:pPr>
            <a:r>
              <a:rPr lang="en" sz="1700">
                <a:latin typeface="Open Sans"/>
                <a:ea typeface="Open Sans"/>
                <a:cs typeface="Open Sans"/>
                <a:sym typeface="Open Sans"/>
              </a:rPr>
              <a:t>Database Design</a:t>
            </a:r>
            <a:endParaRPr sz="1700">
              <a:latin typeface="Open Sans"/>
              <a:ea typeface="Open Sans"/>
              <a:cs typeface="Open Sans"/>
              <a:sym typeface="Open San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Open Sans"/>
              <a:buAutoNum type="arabicParenR"/>
            </a:pPr>
            <a:r>
              <a:rPr lang="en" sz="1700">
                <a:latin typeface="Open Sans"/>
                <a:ea typeface="Open Sans"/>
                <a:cs typeface="Open Sans"/>
                <a:sym typeface="Open Sans"/>
              </a:rPr>
              <a:t>Normalization</a:t>
            </a:r>
            <a:endParaRPr sz="1700">
              <a:latin typeface="Open Sans"/>
              <a:ea typeface="Open Sans"/>
              <a:cs typeface="Open Sans"/>
              <a:sym typeface="Open San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Open Sans"/>
              <a:buAutoNum type="arabicParenR"/>
            </a:pPr>
            <a:r>
              <a:rPr lang="en" sz="1700">
                <a:latin typeface="Open Sans"/>
                <a:ea typeface="Open Sans"/>
                <a:cs typeface="Open Sans"/>
                <a:sym typeface="Open Sans"/>
              </a:rPr>
              <a:t>DDL Statements</a:t>
            </a:r>
            <a:endParaRPr sz="1700">
              <a:latin typeface="Open Sans"/>
              <a:ea typeface="Open Sans"/>
              <a:cs typeface="Open Sans"/>
              <a:sym typeface="Open San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Open Sans"/>
              <a:buAutoNum type="arabicParenR"/>
            </a:pPr>
            <a:r>
              <a:rPr lang="en" sz="1700">
                <a:latin typeface="Open Sans"/>
                <a:ea typeface="Open Sans"/>
                <a:cs typeface="Open Sans"/>
                <a:sym typeface="Open Sans"/>
              </a:rPr>
              <a:t>Insert, update and delete Statements </a:t>
            </a:r>
            <a:endParaRPr sz="1700">
              <a:latin typeface="Open Sans"/>
              <a:ea typeface="Open Sans"/>
              <a:cs typeface="Open Sans"/>
              <a:sym typeface="Open San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Open Sans"/>
              <a:buAutoNum type="arabicParenR"/>
            </a:pPr>
            <a:r>
              <a:rPr lang="en" sz="1700">
                <a:latin typeface="Open Sans"/>
                <a:ea typeface="Open Sans"/>
                <a:cs typeface="Open Sans"/>
                <a:sym typeface="Open Sans"/>
              </a:rPr>
              <a:t>Select Statements</a:t>
            </a:r>
            <a:endParaRPr sz="1700">
              <a:latin typeface="Open Sans"/>
              <a:ea typeface="Open Sans"/>
              <a:cs typeface="Open Sans"/>
              <a:sym typeface="Open San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Open Sans"/>
              <a:buAutoNum type="arabicParenR"/>
            </a:pPr>
            <a:r>
              <a:rPr lang="en" sz="1700">
                <a:latin typeface="Open Sans"/>
                <a:ea typeface="Open Sans"/>
                <a:cs typeface="Open Sans"/>
                <a:sym typeface="Open Sans"/>
              </a:rPr>
              <a:t>Conclusion</a:t>
            </a:r>
            <a:endParaRPr sz="17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idx="1" type="body"/>
          </p:nvPr>
        </p:nvSpPr>
        <p:spPr>
          <a:xfrm>
            <a:off x="223825" y="594150"/>
            <a:ext cx="4435800" cy="39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</a:rPr>
              <a:t>Introduction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200">
                <a:latin typeface="Times New Roman"/>
                <a:ea typeface="Times New Roman"/>
                <a:cs typeface="Times New Roman"/>
                <a:sym typeface="Times New Roman"/>
              </a:rPr>
              <a:t>Foxcore Retail is a small retail business founded by business partners Liam Corrigan and Mitchell Fox. The company specializes in selling inexpensive novelty items at music festivals and trade shows across Ontario.</a:t>
            </a:r>
            <a:endParaRPr sz="2400"/>
          </a:p>
        </p:txBody>
      </p:sp>
      <p:sp>
        <p:nvSpPr>
          <p:cNvPr id="85" name="Google Shape;85;p15"/>
          <p:cNvSpPr txBox="1"/>
          <p:nvPr>
            <p:ph idx="2" type="body"/>
          </p:nvPr>
        </p:nvSpPr>
        <p:spPr>
          <a:xfrm>
            <a:off x="4572000" y="594150"/>
            <a:ext cx="4572000" cy="39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</a:pPr>
            <a:r>
              <a:rPr b="1" lang="en" sz="2300">
                <a:solidFill>
                  <a:schemeClr val="dk1"/>
                </a:solidFill>
              </a:rPr>
              <a:t>Problem Statement</a:t>
            </a:r>
            <a:endParaRPr b="1" sz="23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1600"/>
              </a:spcBef>
              <a:spcAft>
                <a:spcPts val="0"/>
              </a:spcAft>
              <a:buSzPts val="2000"/>
              <a:buChar char="●"/>
            </a:pPr>
            <a:r>
              <a:rPr lang="en" sz="2200">
                <a:latin typeface="Times New Roman"/>
                <a:ea typeface="Times New Roman"/>
                <a:cs typeface="Times New Roman"/>
                <a:sym typeface="Times New Roman"/>
              </a:rPr>
              <a:t>Manual sales tracking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200">
                <a:latin typeface="Times New Roman"/>
                <a:ea typeface="Times New Roman"/>
                <a:cs typeface="Times New Roman"/>
                <a:sym typeface="Times New Roman"/>
              </a:rPr>
              <a:t>Excel use caused admin burden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200">
                <a:latin typeface="Times New Roman"/>
                <a:ea typeface="Times New Roman"/>
                <a:cs typeface="Times New Roman"/>
                <a:sym typeface="Times New Roman"/>
              </a:rPr>
              <a:t>Data errors, and redundancy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200">
                <a:latin typeface="Times New Roman"/>
                <a:ea typeface="Times New Roman"/>
                <a:cs typeface="Times New Roman"/>
                <a:sym typeface="Times New Roman"/>
              </a:rPr>
              <a:t>Commission calculations were inefficient, insights limited, and inventory estimates inaccurate.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200">
                <a:latin typeface="Times New Roman"/>
                <a:ea typeface="Times New Roman"/>
                <a:cs typeface="Times New Roman"/>
                <a:sym typeface="Times New Roman"/>
              </a:rPr>
              <a:t>Need for a robust database system.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type="title"/>
          </p:nvPr>
        </p:nvSpPr>
        <p:spPr>
          <a:xfrm>
            <a:off x="2347425" y="478850"/>
            <a:ext cx="6374400" cy="73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Challenges</a:t>
            </a:r>
            <a:endParaRPr sz="3600"/>
          </a:p>
        </p:txBody>
      </p:sp>
      <p:sp>
        <p:nvSpPr>
          <p:cNvPr id="91" name="Google Shape;91;p16"/>
          <p:cNvSpPr txBox="1"/>
          <p:nvPr>
            <p:ph idx="1" type="body"/>
          </p:nvPr>
        </p:nvSpPr>
        <p:spPr>
          <a:xfrm>
            <a:off x="0" y="1055200"/>
            <a:ext cx="8697300" cy="34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200">
                <a:latin typeface="Times New Roman"/>
                <a:ea typeface="Times New Roman"/>
                <a:cs typeface="Times New Roman"/>
                <a:sym typeface="Times New Roman"/>
              </a:rPr>
              <a:t>Legacy System Inefficiencies: Foxcore had manual, paper-based sales tracking processes, resulting in administrative headaches and high incidences of data inaccuracy.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200">
                <a:latin typeface="Times New Roman"/>
                <a:ea typeface="Times New Roman"/>
                <a:cs typeface="Times New Roman"/>
                <a:sym typeface="Times New Roman"/>
              </a:rPr>
              <a:t>Commission Complexity: Inefficiencies were most evident in the calculation of sales commissions, resulting in delays and errors.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200">
                <a:latin typeface="Times New Roman"/>
                <a:ea typeface="Times New Roman"/>
                <a:cs typeface="Times New Roman"/>
                <a:sym typeface="Times New Roman"/>
              </a:rPr>
              <a:t>Inability to Gain Strategic Insights: The absence of real-time information made it difficult to derive actionable insights or offer strategic decision support.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idx="1" type="body"/>
          </p:nvPr>
        </p:nvSpPr>
        <p:spPr>
          <a:xfrm>
            <a:off x="176950" y="502725"/>
            <a:ext cx="4873200" cy="49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Objective</a:t>
            </a:r>
            <a:endParaRPr b="1" sz="21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60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Eliminates redundancy and data inconsistency.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To get a real time track of the product sales, employee commissions, and event performance. 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Enhances planning and operational decision-making. 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Facilitates performance monitoring across products, sales consultants, and event venues. 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Consolidated and centralized Business data. 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Improve inventory management. 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Streamline administrative processes. 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Support scalability. </a:t>
            </a:r>
            <a:endParaRPr sz="1900"/>
          </a:p>
        </p:txBody>
      </p:sp>
      <p:sp>
        <p:nvSpPr>
          <p:cNvPr id="97" name="Google Shape;97;p17"/>
          <p:cNvSpPr txBox="1"/>
          <p:nvPr>
            <p:ph idx="2" type="body"/>
          </p:nvPr>
        </p:nvSpPr>
        <p:spPr>
          <a:xfrm>
            <a:off x="4986300" y="612025"/>
            <a:ext cx="3735600" cy="39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Proposed Solution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To implement a centralized, reliable and scalable database system to manage volume of business information. </a:t>
            </a:r>
            <a:endParaRPr sz="2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1033450" y="486825"/>
            <a:ext cx="76485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Entity-Relation Diagram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03" name="Google Shape;103;p18" title="Screenshot 2025-04-27 1634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3300" y="1041225"/>
            <a:ext cx="7648501" cy="3797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557300" y="4209175"/>
            <a:ext cx="8316900" cy="635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9" name="Google Shape;109;p19"/>
          <p:cNvSpPr txBox="1"/>
          <p:nvPr>
            <p:ph type="title"/>
          </p:nvPr>
        </p:nvSpPr>
        <p:spPr>
          <a:xfrm>
            <a:off x="345625" y="222700"/>
            <a:ext cx="8316900" cy="635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Relational Database Schema: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0" name="Google Shape;110;p19"/>
          <p:cNvSpPr/>
          <p:nvPr/>
        </p:nvSpPr>
        <p:spPr>
          <a:xfrm>
            <a:off x="612950" y="4162775"/>
            <a:ext cx="3492600" cy="912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1" name="Google Shape;111;p19" title="Normalization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625" y="1010500"/>
            <a:ext cx="8316902" cy="4065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>
            <p:ph type="title"/>
          </p:nvPr>
        </p:nvSpPr>
        <p:spPr>
          <a:xfrm>
            <a:off x="404900" y="123225"/>
            <a:ext cx="8316900" cy="635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DDl Statements - Create Commands: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17" name="Google Shape;11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900" y="876125"/>
            <a:ext cx="8316899" cy="3961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800" y="152400"/>
            <a:ext cx="4222718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8875" y="228600"/>
            <a:ext cx="4138976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1950" y="524000"/>
            <a:ext cx="4944999" cy="412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2825" y="1303700"/>
            <a:ext cx="3509999" cy="206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404900" y="123225"/>
            <a:ext cx="8316900" cy="635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Insert Statements: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35" name="Google Shape;135;p23"/>
          <p:cNvPicPr preferRelativeResize="0"/>
          <p:nvPr/>
        </p:nvPicPr>
        <p:blipFill rotWithShape="1">
          <a:blip r:embed="rId3">
            <a:alphaModFix/>
          </a:blip>
          <a:srcRect b="-2186" l="-6539" r="-8588" t="0"/>
          <a:stretch/>
        </p:blipFill>
        <p:spPr>
          <a:xfrm>
            <a:off x="-146725" y="925425"/>
            <a:ext cx="9545025" cy="4025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400" y="171875"/>
            <a:ext cx="4162601" cy="475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3000" y="171875"/>
            <a:ext cx="4101575" cy="475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/>
          <p:nvPr>
            <p:ph type="title"/>
          </p:nvPr>
        </p:nvSpPr>
        <p:spPr>
          <a:xfrm>
            <a:off x="404900" y="123225"/>
            <a:ext cx="8316900" cy="635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Update Statements: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47" name="Google Shape;14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200" y="1037250"/>
            <a:ext cx="8261601" cy="382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>
            <p:ph type="title"/>
          </p:nvPr>
        </p:nvSpPr>
        <p:spPr>
          <a:xfrm>
            <a:off x="404900" y="123225"/>
            <a:ext cx="8316900" cy="635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Delete Statements: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53" name="Google Shape;15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8775" y="868125"/>
            <a:ext cx="6844526" cy="376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 txBox="1"/>
          <p:nvPr>
            <p:ph type="title"/>
          </p:nvPr>
        </p:nvSpPr>
        <p:spPr>
          <a:xfrm>
            <a:off x="404900" y="71275"/>
            <a:ext cx="8316900" cy="679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  Statements:</a:t>
            </a:r>
            <a:endParaRPr/>
          </a:p>
        </p:txBody>
      </p:sp>
      <p:pic>
        <p:nvPicPr>
          <p:cNvPr id="159" name="Google Shape;15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450" y="890875"/>
            <a:ext cx="4467549" cy="4088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890875"/>
            <a:ext cx="4571999" cy="4088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31050"/>
            <a:ext cx="4571999" cy="343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731050"/>
            <a:ext cx="4571999" cy="343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85100"/>
            <a:ext cx="4571999" cy="2973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085125"/>
            <a:ext cx="4571999" cy="2973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0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1"/>
          <p:cNvSpPr txBox="1"/>
          <p:nvPr>
            <p:ph type="title"/>
          </p:nvPr>
        </p:nvSpPr>
        <p:spPr>
          <a:xfrm>
            <a:off x="265500" y="285050"/>
            <a:ext cx="7687500" cy="451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Times New Roman"/>
              <a:buChar char="❏"/>
            </a:pPr>
            <a:r>
              <a:rPr b="0" lang="en" sz="2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 and accurate calculation of sales commissions.</a:t>
            </a:r>
            <a:endParaRPr b="0" sz="2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Times New Roman"/>
              <a:buChar char="❏"/>
            </a:pPr>
            <a:r>
              <a:rPr b="0" lang="en" sz="2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Improved tracking of sales performance by salesperson, product, and event.</a:t>
            </a:r>
            <a:endParaRPr b="0" sz="2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Times New Roman"/>
              <a:buChar char="❏"/>
            </a:pPr>
            <a:r>
              <a:rPr b="0" lang="en" sz="2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Enhanced inventory management to prevent stockouts and overstocking.</a:t>
            </a:r>
            <a:endParaRPr b="0" sz="2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Times New Roman"/>
              <a:buChar char="❏"/>
            </a:pPr>
            <a:r>
              <a:rPr b="0" lang="en" sz="2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Better understanding of product performance and sales trends to inform business decisions.</a:t>
            </a:r>
            <a:endParaRPr b="0" sz="2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Char char="❏"/>
            </a:pPr>
            <a:r>
              <a:rPr b="0" lang="en" sz="2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Streamlined administrative processes and reduced errors</a:t>
            </a:r>
            <a:r>
              <a:rPr b="0" lang="en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600"/>
          </a:p>
        </p:txBody>
      </p:sp>
      <p:sp>
        <p:nvSpPr>
          <p:cNvPr id="183" name="Google Shape;183;p31"/>
          <p:cNvSpPr txBox="1"/>
          <p:nvPr/>
        </p:nvSpPr>
        <p:spPr>
          <a:xfrm>
            <a:off x="319950" y="171875"/>
            <a:ext cx="39363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Conclusion:</a:t>
            </a:r>
            <a:endParaRPr b="1" sz="3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2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 &amp; 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