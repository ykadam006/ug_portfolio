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embeddedFontLst>
    <p:embeddedFont>
      <p:font typeface="PT Sans Narrow"/>
      <p:regular r:id="rId23"/>
      <p:bold r:id="rId24"/>
    </p:embeddedFont>
    <p:embeddedFont>
      <p:font typeface="Open Sans"/>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PTSansNarrow-bold.fntdata"/><Relationship Id="rId23" Type="http://schemas.openxmlformats.org/officeDocument/2006/relationships/font" Target="fonts/PTSansNarrow-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OpenSans-bold.fntdata"/><Relationship Id="rId25" Type="http://schemas.openxmlformats.org/officeDocument/2006/relationships/font" Target="fonts/OpenSans-regular.fntdata"/><Relationship Id="rId28" Type="http://schemas.openxmlformats.org/officeDocument/2006/relationships/font" Target="fonts/OpenSans-boldItalic.fntdata"/><Relationship Id="rId27" Type="http://schemas.openxmlformats.org/officeDocument/2006/relationships/font" Target="fonts/OpenSans-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4fa6a6c0cb_0_8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4fa6a6c0cb_0_8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4fa6a6c0cb_0_8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4fa6a6c0cb_0_8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4fa6a6c0cb_0_8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4fa6a6c0cb_0_8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4fa6a6c0cb_0_8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4fa6a6c0cb_0_8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4fa6a6c0cb_0_8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4fa6a6c0cb_0_8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4fa6a6c0cb_0_8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4fa6a6c0cb_0_8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4fa6a6c0cb_0_8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4fa6a6c0cb_0_8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4fa6a6c0cb_0_8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4fa6a6c0cb_0_8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4fa6a6c0cb_0_8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4fa6a6c0cb_0_8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4fa6a6c0cb_0_8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4fa6a6c0cb_0_8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4fa6a6c0cb_0_9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4fa6a6c0cb_0_9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4fa6a6c0cb_0_9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4fa6a6c0cb_0_9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4fa6a6c0cb_0_9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4fa6a6c0cb_0_9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4fa6a6c0cb_0_9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4fa6a6c0cb_0_9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4fa6a6c0cb_0_9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4fa6a6c0cb_0_9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4fa6a6c0cb_0_9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4fa6a6c0cb_0_9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11" name="Google Shape;11;p2"/>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4" name="Google Shape;14;p2"/>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7" name="Google Shape;17;p2"/>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18" name="Google Shape;18;p2"/>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9" name="Google Shape;19;p2"/>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0" name="Google Shape;20;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p:txBody>
      </p:sp>
      <p:sp>
        <p:nvSpPr>
          <p:cNvPr id="24" name="Google Shape;24;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28" name="Google Shape;28;p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9" name="Google Shape;2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5"/>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2" name="Google Shape;32;p5"/>
          <p:cNvSpPr txBox="1"/>
          <p:nvPr>
            <p:ph idx="1" type="body"/>
          </p:nvPr>
        </p:nvSpPr>
        <p:spPr>
          <a:xfrm>
            <a:off x="3117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5"/>
          <p:cNvSpPr txBox="1"/>
          <p:nvPr>
            <p:ph idx="2" type="body"/>
          </p:nvPr>
        </p:nvSpPr>
        <p:spPr>
          <a:xfrm>
            <a:off x="48324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6"/>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7" name="Google Shape;3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42" name="Shape 42"/>
        <p:cNvGrpSpPr/>
        <p:nvPr/>
      </p:nvGrpSpPr>
      <p:grpSpPr>
        <a:xfrm>
          <a:off x="0" y="0"/>
          <a:ext cx="0" cy="0"/>
          <a:chOff x="0" y="0"/>
          <a:chExt cx="0" cy="0"/>
        </a:xfrm>
      </p:grpSpPr>
      <p:sp>
        <p:nvSpPr>
          <p:cNvPr id="43" name="Google Shape;43;p8"/>
          <p:cNvSpPr txBox="1"/>
          <p:nvPr>
            <p:ph type="title"/>
          </p:nvPr>
        </p:nvSpPr>
        <p:spPr>
          <a:xfrm>
            <a:off x="490250" y="526350"/>
            <a:ext cx="56136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2"/>
              </a:buClr>
              <a:buSzPts val="5400"/>
              <a:buNone/>
              <a:defRPr b="0" sz="5400">
                <a:solidFill>
                  <a:schemeClr val="dk2"/>
                </a:solidFill>
              </a:defRPr>
            </a:lvl1pPr>
            <a:lvl2pPr lvl="1">
              <a:spcBef>
                <a:spcPts val="0"/>
              </a:spcBef>
              <a:spcAft>
                <a:spcPts val="0"/>
              </a:spcAft>
              <a:buClr>
                <a:schemeClr val="dk2"/>
              </a:buClr>
              <a:buSzPts val="5400"/>
              <a:buNone/>
              <a:defRPr b="0" sz="5400">
                <a:solidFill>
                  <a:schemeClr val="dk2"/>
                </a:solidFill>
              </a:defRPr>
            </a:lvl2pPr>
            <a:lvl3pPr lvl="2">
              <a:spcBef>
                <a:spcPts val="0"/>
              </a:spcBef>
              <a:spcAft>
                <a:spcPts val="0"/>
              </a:spcAft>
              <a:buClr>
                <a:schemeClr val="dk2"/>
              </a:buClr>
              <a:buSzPts val="5400"/>
              <a:buNone/>
              <a:defRPr b="0" sz="5400">
                <a:solidFill>
                  <a:schemeClr val="dk2"/>
                </a:solidFill>
              </a:defRPr>
            </a:lvl3pPr>
            <a:lvl4pPr lvl="3">
              <a:spcBef>
                <a:spcPts val="0"/>
              </a:spcBef>
              <a:spcAft>
                <a:spcPts val="0"/>
              </a:spcAft>
              <a:buClr>
                <a:schemeClr val="dk2"/>
              </a:buClr>
              <a:buSzPts val="5400"/>
              <a:buNone/>
              <a:defRPr b="0" sz="5400">
                <a:solidFill>
                  <a:schemeClr val="dk2"/>
                </a:solidFill>
              </a:defRPr>
            </a:lvl4pPr>
            <a:lvl5pPr lvl="4">
              <a:spcBef>
                <a:spcPts val="0"/>
              </a:spcBef>
              <a:spcAft>
                <a:spcPts val="0"/>
              </a:spcAft>
              <a:buClr>
                <a:schemeClr val="dk2"/>
              </a:buClr>
              <a:buSzPts val="5400"/>
              <a:buNone/>
              <a:defRPr b="0" sz="5400">
                <a:solidFill>
                  <a:schemeClr val="dk2"/>
                </a:solidFill>
              </a:defRPr>
            </a:lvl5pPr>
            <a:lvl6pPr lvl="5">
              <a:spcBef>
                <a:spcPts val="0"/>
              </a:spcBef>
              <a:spcAft>
                <a:spcPts val="0"/>
              </a:spcAft>
              <a:buClr>
                <a:schemeClr val="dk2"/>
              </a:buClr>
              <a:buSzPts val="5400"/>
              <a:buNone/>
              <a:defRPr b="0" sz="5400">
                <a:solidFill>
                  <a:schemeClr val="dk2"/>
                </a:solidFill>
              </a:defRPr>
            </a:lvl6pPr>
            <a:lvl7pPr lvl="6">
              <a:spcBef>
                <a:spcPts val="0"/>
              </a:spcBef>
              <a:spcAft>
                <a:spcPts val="0"/>
              </a:spcAft>
              <a:buClr>
                <a:schemeClr val="dk2"/>
              </a:buClr>
              <a:buSzPts val="5400"/>
              <a:buNone/>
              <a:defRPr b="0" sz="5400">
                <a:solidFill>
                  <a:schemeClr val="dk2"/>
                </a:solidFill>
              </a:defRPr>
            </a:lvl7pPr>
            <a:lvl8pPr lvl="7">
              <a:spcBef>
                <a:spcPts val="0"/>
              </a:spcBef>
              <a:spcAft>
                <a:spcPts val="0"/>
              </a:spcAft>
              <a:buClr>
                <a:schemeClr val="dk2"/>
              </a:buClr>
              <a:buSzPts val="5400"/>
              <a:buNone/>
              <a:defRPr b="0" sz="5400">
                <a:solidFill>
                  <a:schemeClr val="dk2"/>
                </a:solidFill>
              </a:defRPr>
            </a:lvl8pPr>
            <a:lvl9pPr lvl="8">
              <a:spcBef>
                <a:spcPts val="0"/>
              </a:spcBef>
              <a:spcAft>
                <a:spcPts val="0"/>
              </a:spcAft>
              <a:buClr>
                <a:schemeClr val="dk2"/>
              </a:buClr>
              <a:buSzPts val="5400"/>
              <a:buNone/>
              <a:defRPr b="0" sz="5400">
                <a:solidFill>
                  <a:schemeClr val="dk2"/>
                </a:solidFill>
              </a:defRPr>
            </a:lvl9pPr>
          </a:lstStyle>
          <a:p/>
        </p:txBody>
      </p:sp>
      <p:sp>
        <p:nvSpPr>
          <p:cNvPr id="44" name="Google Shape;4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 name="Google Shape;47;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8" name="Google Shape;48;p9"/>
          <p:cNvSpPr txBox="1"/>
          <p:nvPr>
            <p:ph type="title"/>
          </p:nvPr>
        </p:nvSpPr>
        <p:spPr>
          <a:xfrm>
            <a:off x="265500" y="1039675"/>
            <a:ext cx="4045200" cy="16758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9" name="Google Shape;49;p9"/>
          <p:cNvSpPr txBox="1"/>
          <p:nvPr>
            <p:ph idx="1" type="subTitle"/>
          </p:nvPr>
        </p:nvSpPr>
        <p:spPr>
          <a:xfrm>
            <a:off x="265500" y="27268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ph idx="1" type="body"/>
          </p:nvPr>
        </p:nvSpPr>
        <p:spPr>
          <a:xfrm>
            <a:off x="311700" y="4230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54" name="Google Shape;5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1"/>
          <p:cNvSpPr txBox="1"/>
          <p:nvPr>
            <p:ph hasCustomPrompt="1" type="title"/>
          </p:nvPr>
        </p:nvSpPr>
        <p:spPr>
          <a:xfrm>
            <a:off x="311700" y="1304850"/>
            <a:ext cx="85206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p:nvPr>
            <p:ph idx="1" type="body"/>
          </p:nvPr>
        </p:nvSpPr>
        <p:spPr>
          <a:xfrm>
            <a:off x="311700" y="29956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9" name="Google Shape;5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9pPr>
          </a:lstStyle>
          <a:p/>
        </p:txBody>
      </p:sp>
      <p:sp>
        <p:nvSpPr>
          <p:cNvPr id="7" name="Google Shape;7;p1"/>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indent="-317500" lvl="1" marL="914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indent="-317500" lvl="2" marL="1371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indent="-317500" lvl="3" marL="1828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indent="-317500" lvl="4" marL="22860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indent="-317500" lvl="5" marL="27432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indent="-317500" lvl="6" marL="3200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indent="-317500" lvl="7" marL="3657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indent="-317500" lvl="8" marL="4114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3"/>
          <p:cNvSpPr txBox="1"/>
          <p:nvPr>
            <p:ph type="ctrTitle"/>
          </p:nvPr>
        </p:nvSpPr>
        <p:spPr>
          <a:xfrm>
            <a:off x="1004125" y="1189389"/>
            <a:ext cx="7136700" cy="10224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Foxcore Retail Case Analysis</a:t>
            </a:r>
            <a:endParaRPr/>
          </a:p>
        </p:txBody>
      </p:sp>
      <p:sp>
        <p:nvSpPr>
          <p:cNvPr id="67" name="Google Shape;67;p13"/>
          <p:cNvSpPr txBox="1"/>
          <p:nvPr>
            <p:ph idx="1" type="subTitle"/>
          </p:nvPr>
        </p:nvSpPr>
        <p:spPr>
          <a:xfrm>
            <a:off x="2137225" y="2175464"/>
            <a:ext cx="4870500" cy="17949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b="1" lang="en" sz="9050"/>
              <a:t>                 </a:t>
            </a:r>
            <a:r>
              <a:rPr b="1" lang="en" sz="9050"/>
              <a:t>Presented By:</a:t>
            </a:r>
            <a:endParaRPr b="1" sz="9050"/>
          </a:p>
          <a:p>
            <a:pPr indent="0" lvl="0" marL="0" rtl="0" algn="ctr">
              <a:spcBef>
                <a:spcPts val="0"/>
              </a:spcBef>
              <a:spcAft>
                <a:spcPts val="0"/>
              </a:spcAft>
              <a:buNone/>
            </a:pPr>
            <a:r>
              <a:t/>
            </a:r>
            <a:endParaRPr b="1" sz="9050"/>
          </a:p>
          <a:p>
            <a:pPr indent="0" lvl="0" marL="0" rtl="0" algn="r">
              <a:spcBef>
                <a:spcPts val="0"/>
              </a:spcBef>
              <a:spcAft>
                <a:spcPts val="0"/>
              </a:spcAft>
              <a:buNone/>
            </a:pPr>
            <a:r>
              <a:rPr lang="en" sz="5862"/>
              <a:t>Hetal </a:t>
            </a:r>
            <a:r>
              <a:rPr lang="en" sz="5862"/>
              <a:t>Virendrabhai</a:t>
            </a:r>
            <a:r>
              <a:rPr lang="en" sz="5862"/>
              <a:t> Gandhi</a:t>
            </a:r>
            <a:endParaRPr sz="5862"/>
          </a:p>
          <a:p>
            <a:pPr indent="0" lvl="0" marL="0" rtl="0" algn="r">
              <a:spcBef>
                <a:spcPts val="0"/>
              </a:spcBef>
              <a:spcAft>
                <a:spcPts val="0"/>
              </a:spcAft>
              <a:buNone/>
            </a:pPr>
            <a:r>
              <a:rPr lang="en" sz="5862"/>
              <a:t>Akanksha Shrivastava</a:t>
            </a:r>
            <a:endParaRPr sz="5862"/>
          </a:p>
          <a:p>
            <a:pPr indent="0" lvl="0" marL="0" rtl="0" algn="r">
              <a:spcBef>
                <a:spcPts val="0"/>
              </a:spcBef>
              <a:spcAft>
                <a:spcPts val="0"/>
              </a:spcAft>
              <a:buNone/>
            </a:pPr>
            <a:r>
              <a:rPr lang="en" sz="5862"/>
              <a:t>Anandi Singh</a:t>
            </a:r>
            <a:endParaRPr sz="5862"/>
          </a:p>
          <a:p>
            <a:pPr indent="0" lvl="0" marL="0" rtl="0" algn="r">
              <a:spcBef>
                <a:spcPts val="0"/>
              </a:spcBef>
              <a:spcAft>
                <a:spcPts val="0"/>
              </a:spcAft>
              <a:buNone/>
            </a:pPr>
            <a:r>
              <a:rPr lang="en" sz="5862"/>
              <a:t>Unnati Agrawal</a:t>
            </a:r>
            <a:endParaRPr sz="5862"/>
          </a:p>
          <a:p>
            <a:pPr indent="0" lvl="0" marL="0" rtl="0" algn="r">
              <a:spcBef>
                <a:spcPts val="0"/>
              </a:spcBef>
              <a:spcAft>
                <a:spcPts val="0"/>
              </a:spcAft>
              <a:buNone/>
            </a:pPr>
            <a:r>
              <a:rPr lang="en" sz="5862"/>
              <a:t>Diana Nyaama Asilga</a:t>
            </a:r>
            <a:endParaRPr sz="5862"/>
          </a:p>
          <a:p>
            <a:pPr indent="0" lvl="0" marL="0" rtl="0" algn="r">
              <a:spcBef>
                <a:spcPts val="0"/>
              </a:spcBef>
              <a:spcAft>
                <a:spcPts val="0"/>
              </a:spcAft>
              <a:buNone/>
            </a:pPr>
            <a:r>
              <a:rPr lang="en" sz="5862"/>
              <a:t>Jahnvi Kansara</a:t>
            </a:r>
            <a:endParaRPr sz="5862"/>
          </a:p>
          <a:p>
            <a:pPr indent="0" lvl="0" marL="0" rtl="0" algn="ctr">
              <a:spcBef>
                <a:spcPts val="0"/>
              </a:spcBef>
              <a:spcAft>
                <a:spcPts val="0"/>
              </a:spcAft>
              <a:buNone/>
            </a:pPr>
            <a:r>
              <a:t/>
            </a:r>
            <a:endParaRPr b="1" sz="3600"/>
          </a:p>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4"/>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Index:</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73" name="Google Shape;73;p1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fontScale="92500" lnSpcReduction="20000"/>
          </a:bodyPr>
          <a:lstStyle/>
          <a:p>
            <a:pPr indent="-334328" lvl="0" marL="457200" rtl="0" algn="l">
              <a:spcBef>
                <a:spcPts val="0"/>
              </a:spcBef>
              <a:spcAft>
                <a:spcPts val="0"/>
              </a:spcAft>
              <a:buSzPct val="100000"/>
              <a:buAutoNum type="arabicParenR"/>
            </a:pPr>
            <a:r>
              <a:rPr lang="en"/>
              <a:t>Introduction</a:t>
            </a:r>
            <a:endParaRPr/>
          </a:p>
          <a:p>
            <a:pPr indent="-334328" lvl="0" marL="457200" rtl="0" algn="l">
              <a:spcBef>
                <a:spcPts val="0"/>
              </a:spcBef>
              <a:spcAft>
                <a:spcPts val="0"/>
              </a:spcAft>
              <a:buSzPct val="100000"/>
              <a:buAutoNum type="arabicParenR"/>
            </a:pPr>
            <a:r>
              <a:rPr lang="en"/>
              <a:t>Problem Statement</a:t>
            </a:r>
            <a:endParaRPr/>
          </a:p>
          <a:p>
            <a:pPr indent="-334328" lvl="0" marL="457200" rtl="0" algn="l">
              <a:spcBef>
                <a:spcPts val="0"/>
              </a:spcBef>
              <a:spcAft>
                <a:spcPts val="0"/>
              </a:spcAft>
              <a:buSzPct val="100000"/>
              <a:buAutoNum type="arabicParenR"/>
            </a:pPr>
            <a:r>
              <a:rPr lang="en"/>
              <a:t>Objective </a:t>
            </a:r>
            <a:endParaRPr/>
          </a:p>
          <a:p>
            <a:pPr indent="-334328" lvl="0" marL="457200" rtl="0" algn="l">
              <a:spcBef>
                <a:spcPts val="0"/>
              </a:spcBef>
              <a:spcAft>
                <a:spcPts val="0"/>
              </a:spcAft>
              <a:buSzPct val="100000"/>
              <a:buAutoNum type="arabicParenR"/>
            </a:pPr>
            <a:r>
              <a:rPr lang="en"/>
              <a:t>Proposed solution</a:t>
            </a:r>
            <a:endParaRPr/>
          </a:p>
          <a:p>
            <a:pPr indent="-334328" lvl="0" marL="457200" rtl="0" algn="l">
              <a:spcBef>
                <a:spcPts val="0"/>
              </a:spcBef>
              <a:spcAft>
                <a:spcPts val="0"/>
              </a:spcAft>
              <a:buSzPct val="100000"/>
              <a:buAutoNum type="arabicParenR"/>
            </a:pPr>
            <a:r>
              <a:rPr lang="en"/>
              <a:t>Database Design</a:t>
            </a:r>
            <a:endParaRPr/>
          </a:p>
          <a:p>
            <a:pPr indent="-334328" lvl="0" marL="457200" rtl="0" algn="l">
              <a:spcBef>
                <a:spcPts val="0"/>
              </a:spcBef>
              <a:spcAft>
                <a:spcPts val="0"/>
              </a:spcAft>
              <a:buSzPct val="100000"/>
              <a:buAutoNum type="arabicParenR"/>
            </a:pPr>
            <a:r>
              <a:rPr lang="en"/>
              <a:t>Normalization</a:t>
            </a:r>
            <a:endParaRPr/>
          </a:p>
          <a:p>
            <a:pPr indent="-334328" lvl="0" marL="457200" rtl="0" algn="l">
              <a:spcBef>
                <a:spcPts val="0"/>
              </a:spcBef>
              <a:spcAft>
                <a:spcPts val="0"/>
              </a:spcAft>
              <a:buSzPct val="100000"/>
              <a:buAutoNum type="arabicParenR"/>
            </a:pPr>
            <a:r>
              <a:rPr lang="en"/>
              <a:t>DDL </a:t>
            </a:r>
            <a:r>
              <a:rPr lang="en"/>
              <a:t>Statements</a:t>
            </a:r>
            <a:endParaRPr/>
          </a:p>
          <a:p>
            <a:pPr indent="-334328" lvl="0" marL="457200" rtl="0" algn="l">
              <a:spcBef>
                <a:spcPts val="0"/>
              </a:spcBef>
              <a:spcAft>
                <a:spcPts val="0"/>
              </a:spcAft>
              <a:buSzPct val="100000"/>
              <a:buAutoNum type="arabicParenR"/>
            </a:pPr>
            <a:r>
              <a:rPr lang="en"/>
              <a:t>Insert, update and delete Statements </a:t>
            </a:r>
            <a:endParaRPr/>
          </a:p>
          <a:p>
            <a:pPr indent="-334328" lvl="0" marL="457200" rtl="0" algn="l">
              <a:spcBef>
                <a:spcPts val="0"/>
              </a:spcBef>
              <a:spcAft>
                <a:spcPts val="0"/>
              </a:spcAft>
              <a:buSzPct val="100000"/>
              <a:buAutoNum type="arabicParenR"/>
            </a:pPr>
            <a:r>
              <a:rPr lang="en"/>
              <a:t>Select Statements</a:t>
            </a:r>
            <a:endParaRPr/>
          </a:p>
          <a:p>
            <a:pPr indent="-334328" lvl="0" marL="457200" rtl="0" algn="l">
              <a:spcBef>
                <a:spcPts val="0"/>
              </a:spcBef>
              <a:spcAft>
                <a:spcPts val="0"/>
              </a:spcAft>
              <a:buSzPct val="100000"/>
              <a:buAutoNum type="arabicParenR"/>
            </a:pPr>
            <a:r>
              <a:rPr lang="en"/>
              <a:t>Strategic Benefits and Potential Challenges</a:t>
            </a:r>
            <a:endParaRPr/>
          </a:p>
          <a:p>
            <a:pPr indent="-334328" lvl="0" marL="457200" rtl="0" algn="l">
              <a:spcBef>
                <a:spcPts val="0"/>
              </a:spcBef>
              <a:spcAft>
                <a:spcPts val="0"/>
              </a:spcAft>
              <a:buSzPct val="100000"/>
              <a:buAutoNum type="arabicParenR"/>
            </a:pPr>
            <a:r>
              <a:rPr lang="en"/>
              <a:t>Conclusion</a:t>
            </a:r>
            <a:endParaRPr/>
          </a:p>
          <a:p>
            <a:pPr indent="0" lvl="0" marL="45720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5"/>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 </a:t>
            </a:r>
            <a:endParaRPr/>
          </a:p>
        </p:txBody>
      </p:sp>
      <p:sp>
        <p:nvSpPr>
          <p:cNvPr id="79" name="Google Shape;79;p15"/>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400">
                <a:solidFill>
                  <a:srgbClr val="000000"/>
                </a:solidFill>
                <a:latin typeface="Times New Roman"/>
                <a:ea typeface="Times New Roman"/>
                <a:cs typeface="Times New Roman"/>
                <a:sym typeface="Times New Roman"/>
              </a:rPr>
              <a:t>Foxcore Retail is a small retail business founded by business partners Liam Corrigan and Mitchell Fox. The company specializes in selling inexpensive novelty items at music festivals and trade shows across Ontario.</a:t>
            </a:r>
            <a:endParaRPr sz="1400">
              <a:solidFill>
                <a:srgbClr val="000000"/>
              </a:solidFill>
              <a:latin typeface="Times New Roman"/>
              <a:ea typeface="Times New Roman"/>
              <a:cs typeface="Times New Roman"/>
              <a:sym typeface="Times New Roman"/>
            </a:endParaRPr>
          </a:p>
          <a:p>
            <a:pPr indent="0" lvl="0" marL="0" rtl="0" algn="l">
              <a:spcBef>
                <a:spcPts val="0"/>
              </a:spcBef>
              <a:spcAft>
                <a:spcPts val="0"/>
              </a:spcAft>
              <a:buNone/>
            </a:pPr>
            <a:r>
              <a:t/>
            </a:r>
            <a:endParaRPr sz="1400">
              <a:solidFill>
                <a:srgbClr val="000000"/>
              </a:solidFill>
              <a:latin typeface="Times New Roman"/>
              <a:ea typeface="Times New Roman"/>
              <a:cs typeface="Times New Roman"/>
              <a:sym typeface="Times New Roman"/>
            </a:endParaRPr>
          </a:p>
          <a:p>
            <a:pPr indent="0" lvl="0" marL="0" rtl="0" algn="l">
              <a:spcBef>
                <a:spcPts val="0"/>
              </a:spcBef>
              <a:spcAft>
                <a:spcPts val="0"/>
              </a:spcAft>
              <a:buNone/>
            </a:pPr>
            <a:r>
              <a:t/>
            </a:r>
            <a:endParaRPr sz="1400">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b="1" lang="en" sz="3600">
                <a:solidFill>
                  <a:schemeClr val="accent1"/>
                </a:solidFill>
                <a:latin typeface="PT Sans Narrow"/>
                <a:ea typeface="PT Sans Narrow"/>
                <a:cs typeface="PT Sans Narrow"/>
                <a:sym typeface="PT Sans Narrow"/>
              </a:rPr>
              <a:t>Problem Statement:</a:t>
            </a:r>
            <a:endParaRPr b="1" sz="3600">
              <a:solidFill>
                <a:schemeClr val="accent1"/>
              </a:solidFill>
              <a:latin typeface="PT Sans Narrow"/>
              <a:ea typeface="PT Sans Narrow"/>
              <a:cs typeface="PT Sans Narrow"/>
              <a:sym typeface="PT Sans Narrow"/>
            </a:endParaRPr>
          </a:p>
          <a:p>
            <a:pPr indent="0" lvl="0" marL="0" marR="0" rtl="0" algn="l">
              <a:lnSpc>
                <a:spcPct val="115000"/>
              </a:lnSpc>
              <a:spcBef>
                <a:spcPts val="0"/>
              </a:spcBef>
              <a:spcAft>
                <a:spcPts val="0"/>
              </a:spcAft>
              <a:buNone/>
            </a:pPr>
            <a:r>
              <a:t/>
            </a:r>
            <a:endParaRPr sz="1400">
              <a:solidFill>
                <a:srgbClr val="000000"/>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rPr lang="en" sz="1400">
                <a:solidFill>
                  <a:srgbClr val="000000"/>
                </a:solidFill>
                <a:latin typeface="Times New Roman"/>
                <a:ea typeface="Times New Roman"/>
                <a:cs typeface="Times New Roman"/>
                <a:sym typeface="Times New Roman"/>
              </a:rPr>
              <a:t>Manual sales tracking and Excel use caused admin burden, data errors, and redundancy. Commission calculations were inefficient, insights limited, and inventory estimates inaccurate. Growing operations highlighted the need for a robust database system.</a:t>
            </a:r>
            <a:endParaRPr sz="1400">
              <a:solidFill>
                <a:srgbClr val="000000"/>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6"/>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Objective: </a:t>
            </a:r>
            <a:endParaRPr/>
          </a:p>
        </p:txBody>
      </p:sp>
      <p:sp>
        <p:nvSpPr>
          <p:cNvPr id="85" name="Google Shape;85;p16"/>
          <p:cNvSpPr txBox="1"/>
          <p:nvPr>
            <p:ph idx="1" type="body"/>
          </p:nvPr>
        </p:nvSpPr>
        <p:spPr>
          <a:xfrm>
            <a:off x="311700" y="1266325"/>
            <a:ext cx="8520600" cy="33027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1400">
                <a:solidFill>
                  <a:srgbClr val="000000"/>
                </a:solidFill>
                <a:latin typeface="Times New Roman"/>
                <a:ea typeface="Times New Roman"/>
                <a:cs typeface="Times New Roman"/>
                <a:sym typeface="Times New Roman"/>
              </a:rPr>
              <a:t>The purpose of this project is to design and implement a robust database system to address Foxcore Retail's data management challenges. The key objectives are to:</a:t>
            </a:r>
            <a:endParaRPr sz="1400">
              <a:solidFill>
                <a:srgbClr val="000000"/>
              </a:solidFill>
              <a:latin typeface="Times New Roman"/>
              <a:ea typeface="Times New Roman"/>
              <a:cs typeface="Times New Roman"/>
              <a:sym typeface="Times New Roman"/>
            </a:endParaRPr>
          </a:p>
          <a:p>
            <a:pPr indent="-317500" lvl="2" marL="1371600" rtl="0" algn="l">
              <a:spcBef>
                <a:spcPts val="0"/>
              </a:spcBef>
              <a:spcAft>
                <a:spcPts val="0"/>
              </a:spcAft>
              <a:buClr>
                <a:srgbClr val="000000"/>
              </a:buClr>
              <a:buSzPts val="1400"/>
              <a:buFont typeface="Arial"/>
              <a:buChar char="■"/>
            </a:pPr>
            <a:r>
              <a:rPr lang="en">
                <a:solidFill>
                  <a:srgbClr val="000000"/>
                </a:solidFill>
                <a:latin typeface="Times New Roman"/>
                <a:ea typeface="Times New Roman"/>
                <a:cs typeface="Times New Roman"/>
                <a:sym typeface="Times New Roman"/>
              </a:rPr>
              <a:t>Enable efficient tracking of events, sales consultants, and product sales.</a:t>
            </a:r>
            <a:endParaRPr>
              <a:solidFill>
                <a:srgbClr val="000000"/>
              </a:solidFill>
              <a:latin typeface="Times New Roman"/>
              <a:ea typeface="Times New Roman"/>
              <a:cs typeface="Times New Roman"/>
              <a:sym typeface="Times New Roman"/>
            </a:endParaRPr>
          </a:p>
          <a:p>
            <a:pPr indent="-317500" lvl="2" marL="1371600" rtl="0" algn="l">
              <a:spcBef>
                <a:spcPts val="0"/>
              </a:spcBef>
              <a:spcAft>
                <a:spcPts val="0"/>
              </a:spcAft>
              <a:buClr>
                <a:srgbClr val="000000"/>
              </a:buClr>
              <a:buSzPts val="1400"/>
              <a:buFont typeface="Arial"/>
              <a:buChar char="■"/>
            </a:pPr>
            <a:r>
              <a:rPr lang="en">
                <a:solidFill>
                  <a:srgbClr val="000000"/>
                </a:solidFill>
                <a:latin typeface="Times New Roman"/>
                <a:ea typeface="Times New Roman"/>
                <a:cs typeface="Times New Roman"/>
                <a:sym typeface="Times New Roman"/>
              </a:rPr>
              <a:t>Improve the accuracy and reliability of sales data.</a:t>
            </a:r>
            <a:endParaRPr>
              <a:solidFill>
                <a:srgbClr val="000000"/>
              </a:solidFill>
              <a:latin typeface="Times New Roman"/>
              <a:ea typeface="Times New Roman"/>
              <a:cs typeface="Times New Roman"/>
              <a:sym typeface="Times New Roman"/>
            </a:endParaRPr>
          </a:p>
          <a:p>
            <a:pPr indent="-317500" lvl="2" marL="1371600" rtl="0" algn="l">
              <a:spcBef>
                <a:spcPts val="0"/>
              </a:spcBef>
              <a:spcAft>
                <a:spcPts val="0"/>
              </a:spcAft>
              <a:buClr>
                <a:srgbClr val="000000"/>
              </a:buClr>
              <a:buSzPts val="1400"/>
              <a:buFont typeface="Arial"/>
              <a:buChar char="■"/>
            </a:pPr>
            <a:r>
              <a:rPr lang="en">
                <a:solidFill>
                  <a:srgbClr val="000000"/>
                </a:solidFill>
                <a:latin typeface="Times New Roman"/>
                <a:ea typeface="Times New Roman"/>
                <a:cs typeface="Times New Roman"/>
                <a:sym typeface="Times New Roman"/>
              </a:rPr>
              <a:t>Provide strategic insights to support better decision-making.</a:t>
            </a:r>
            <a:endParaRPr>
              <a:solidFill>
                <a:srgbClr val="000000"/>
              </a:solidFill>
              <a:latin typeface="Times New Roman"/>
              <a:ea typeface="Times New Roman"/>
              <a:cs typeface="Times New Roman"/>
              <a:sym typeface="Times New Roman"/>
            </a:endParaRPr>
          </a:p>
          <a:p>
            <a:pPr indent="0" lvl="0" marL="1371600" rtl="0" algn="l">
              <a:spcBef>
                <a:spcPts val="0"/>
              </a:spcBef>
              <a:spcAft>
                <a:spcPts val="0"/>
              </a:spcAft>
              <a:buNone/>
            </a:pPr>
            <a:r>
              <a:t/>
            </a:r>
            <a:endParaRPr>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b="1" lang="en" sz="3600">
                <a:solidFill>
                  <a:schemeClr val="accent1"/>
                </a:solidFill>
                <a:latin typeface="PT Sans Narrow"/>
                <a:ea typeface="PT Sans Narrow"/>
                <a:cs typeface="PT Sans Narrow"/>
                <a:sym typeface="PT Sans Narrow"/>
              </a:rPr>
              <a:t>Proposed Solution: </a:t>
            </a:r>
            <a:endParaRPr b="1" sz="3600">
              <a:solidFill>
                <a:schemeClr val="accent1"/>
              </a:solidFill>
              <a:latin typeface="PT Sans Narrow"/>
              <a:ea typeface="PT Sans Narrow"/>
              <a:cs typeface="PT Sans Narrow"/>
              <a:sym typeface="PT Sans Narrow"/>
            </a:endParaRPr>
          </a:p>
          <a:p>
            <a:pPr indent="0" lvl="0" marL="0" rtl="0" algn="l">
              <a:lnSpc>
                <a:spcPct val="100000"/>
              </a:lnSpc>
              <a:spcBef>
                <a:spcPts val="0"/>
              </a:spcBef>
              <a:spcAft>
                <a:spcPts val="0"/>
              </a:spcAft>
              <a:buNone/>
            </a:pPr>
            <a:r>
              <a:t/>
            </a:r>
            <a:endParaRPr sz="1400">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en" sz="1400">
                <a:solidFill>
                  <a:srgbClr val="000000"/>
                </a:solidFill>
                <a:latin typeface="Times New Roman"/>
                <a:ea typeface="Times New Roman"/>
                <a:cs typeface="Times New Roman"/>
                <a:sym typeface="Times New Roman"/>
              </a:rPr>
              <a:t>The proposed solution is to design and implement a custom relational database system. This database will centralize and organize Foxcore Retail's data, enabling efficient data retrieval, analysis, and reporting</a:t>
            </a:r>
            <a:endParaRPr sz="1400">
              <a:solidFill>
                <a:srgbClr val="000000"/>
              </a:solidFill>
              <a:latin typeface="Times New Roman"/>
              <a:ea typeface="Times New Roman"/>
              <a:cs typeface="Times New Roman"/>
              <a:sym typeface="Times New Roman"/>
            </a:endParaRPr>
          </a:p>
          <a:p>
            <a:pPr indent="0" lvl="0" marL="1371600" rtl="0" algn="l">
              <a:spcBef>
                <a:spcPts val="0"/>
              </a:spcBef>
              <a:spcAft>
                <a:spcPts val="0"/>
              </a:spcAft>
              <a:buNone/>
            </a:pPr>
            <a:r>
              <a:t/>
            </a:r>
            <a:endParaRPr>
              <a:solidFill>
                <a:srgbClr val="000000"/>
              </a:solidFill>
              <a:latin typeface="Times New Roman"/>
              <a:ea typeface="Times New Roman"/>
              <a:cs typeface="Times New Roman"/>
              <a:sym typeface="Times New Roman"/>
            </a:endParaRPr>
          </a:p>
          <a:p>
            <a:pPr indent="0" lvl="0" marL="1371600" rtl="0" algn="l">
              <a:spcBef>
                <a:spcPts val="0"/>
              </a:spcBef>
              <a:spcAft>
                <a:spcPts val="0"/>
              </a:spcAft>
              <a:buNone/>
            </a:pPr>
            <a:r>
              <a:t/>
            </a:r>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7"/>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Database Design:</a:t>
            </a:r>
            <a:endParaRPr/>
          </a:p>
        </p:txBody>
      </p:sp>
      <p:pic>
        <p:nvPicPr>
          <p:cNvPr id="91" name="Google Shape;91;p17"/>
          <p:cNvPicPr preferRelativeResize="0"/>
          <p:nvPr/>
        </p:nvPicPr>
        <p:blipFill>
          <a:blip r:embed="rId3">
            <a:alphaModFix/>
          </a:blip>
          <a:stretch>
            <a:fillRect/>
          </a:stretch>
        </p:blipFill>
        <p:spPr>
          <a:xfrm>
            <a:off x="379875" y="1091125"/>
            <a:ext cx="6972123" cy="36862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8"/>
          <p:cNvSpPr txBox="1"/>
          <p:nvPr>
            <p:ph type="title"/>
          </p:nvPr>
        </p:nvSpPr>
        <p:spPr>
          <a:xfrm>
            <a:off x="311700" y="188150"/>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Relational Database Schema :</a:t>
            </a:r>
            <a:endParaRPr/>
          </a:p>
        </p:txBody>
      </p:sp>
      <p:pic>
        <p:nvPicPr>
          <p:cNvPr id="97" name="Google Shape;97;p18"/>
          <p:cNvPicPr preferRelativeResize="0"/>
          <p:nvPr/>
        </p:nvPicPr>
        <p:blipFill>
          <a:blip r:embed="rId3">
            <a:alphaModFix/>
          </a:blip>
          <a:stretch>
            <a:fillRect/>
          </a:stretch>
        </p:blipFill>
        <p:spPr>
          <a:xfrm>
            <a:off x="404900" y="824075"/>
            <a:ext cx="8153900" cy="42407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9"/>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DDL </a:t>
            </a:r>
            <a:r>
              <a:rPr lang="en"/>
              <a:t>Statements</a:t>
            </a:r>
            <a:r>
              <a:rPr lang="en"/>
              <a:t> - Create Command : </a:t>
            </a:r>
            <a:endParaRPr/>
          </a:p>
        </p:txBody>
      </p:sp>
      <p:pic>
        <p:nvPicPr>
          <p:cNvPr id="103" name="Google Shape;103;p19"/>
          <p:cNvPicPr preferRelativeResize="0"/>
          <p:nvPr/>
        </p:nvPicPr>
        <p:blipFill>
          <a:blip r:embed="rId3">
            <a:alphaModFix/>
          </a:blip>
          <a:stretch>
            <a:fillRect/>
          </a:stretch>
        </p:blipFill>
        <p:spPr>
          <a:xfrm>
            <a:off x="473475" y="1152425"/>
            <a:ext cx="6996699" cy="36862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20"/>
          <p:cNvPicPr preferRelativeResize="0"/>
          <p:nvPr/>
        </p:nvPicPr>
        <p:blipFill>
          <a:blip r:embed="rId3">
            <a:alphaModFix/>
          </a:blip>
          <a:stretch>
            <a:fillRect/>
          </a:stretch>
        </p:blipFill>
        <p:spPr>
          <a:xfrm>
            <a:off x="349275" y="56075"/>
            <a:ext cx="4222718" cy="4838700"/>
          </a:xfrm>
          <a:prstGeom prst="rect">
            <a:avLst/>
          </a:prstGeom>
          <a:noFill/>
          <a:ln>
            <a:noFill/>
          </a:ln>
        </p:spPr>
      </p:pic>
      <p:pic>
        <p:nvPicPr>
          <p:cNvPr id="109" name="Google Shape;109;p20"/>
          <p:cNvPicPr preferRelativeResize="0"/>
          <p:nvPr/>
        </p:nvPicPr>
        <p:blipFill>
          <a:blip r:embed="rId4">
            <a:alphaModFix/>
          </a:blip>
          <a:stretch>
            <a:fillRect/>
          </a:stretch>
        </p:blipFill>
        <p:spPr>
          <a:xfrm>
            <a:off x="4623375" y="56075"/>
            <a:ext cx="4368224" cy="48387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pic>
        <p:nvPicPr>
          <p:cNvPr id="114" name="Google Shape;114;p21"/>
          <p:cNvPicPr preferRelativeResize="0"/>
          <p:nvPr/>
        </p:nvPicPr>
        <p:blipFill>
          <a:blip r:embed="rId3">
            <a:alphaModFix/>
          </a:blip>
          <a:stretch>
            <a:fillRect/>
          </a:stretch>
        </p:blipFill>
        <p:spPr>
          <a:xfrm>
            <a:off x="152400" y="152400"/>
            <a:ext cx="4763225" cy="4838699"/>
          </a:xfrm>
          <a:prstGeom prst="rect">
            <a:avLst/>
          </a:prstGeom>
          <a:noFill/>
          <a:ln>
            <a:noFill/>
          </a:ln>
        </p:spPr>
      </p:pic>
      <p:pic>
        <p:nvPicPr>
          <p:cNvPr id="115" name="Google Shape;115;p21"/>
          <p:cNvPicPr preferRelativeResize="0"/>
          <p:nvPr/>
        </p:nvPicPr>
        <p:blipFill>
          <a:blip r:embed="rId4">
            <a:alphaModFix/>
          </a:blip>
          <a:stretch>
            <a:fillRect/>
          </a:stretch>
        </p:blipFill>
        <p:spPr>
          <a:xfrm>
            <a:off x="5035925" y="1425975"/>
            <a:ext cx="3923575" cy="18229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2"/>
          <p:cNvSpPr txBox="1"/>
          <p:nvPr>
            <p:ph type="title"/>
          </p:nvPr>
        </p:nvSpPr>
        <p:spPr>
          <a:xfrm>
            <a:off x="311700" y="198850"/>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Insert, Update And Delete </a:t>
            </a:r>
            <a:r>
              <a:rPr lang="en"/>
              <a:t>Statements</a:t>
            </a:r>
            <a:r>
              <a:rPr lang="en"/>
              <a:t> :</a:t>
            </a:r>
            <a:endParaRPr/>
          </a:p>
        </p:txBody>
      </p:sp>
      <p:pic>
        <p:nvPicPr>
          <p:cNvPr id="121" name="Google Shape;121;p22"/>
          <p:cNvPicPr preferRelativeResize="0"/>
          <p:nvPr/>
        </p:nvPicPr>
        <p:blipFill>
          <a:blip r:embed="rId3">
            <a:alphaModFix/>
          </a:blip>
          <a:stretch>
            <a:fillRect/>
          </a:stretch>
        </p:blipFill>
        <p:spPr>
          <a:xfrm>
            <a:off x="374575" y="1101475"/>
            <a:ext cx="7224025" cy="39392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pic>
        <p:nvPicPr>
          <p:cNvPr id="126" name="Google Shape;126;p23"/>
          <p:cNvPicPr preferRelativeResize="0"/>
          <p:nvPr/>
        </p:nvPicPr>
        <p:blipFill>
          <a:blip r:embed="rId3">
            <a:alphaModFix/>
          </a:blip>
          <a:stretch>
            <a:fillRect/>
          </a:stretch>
        </p:blipFill>
        <p:spPr>
          <a:xfrm>
            <a:off x="291550" y="0"/>
            <a:ext cx="4363924" cy="5143501"/>
          </a:xfrm>
          <a:prstGeom prst="rect">
            <a:avLst/>
          </a:prstGeom>
          <a:noFill/>
          <a:ln>
            <a:noFill/>
          </a:ln>
        </p:spPr>
      </p:pic>
      <p:pic>
        <p:nvPicPr>
          <p:cNvPr id="127" name="Google Shape;127;p23"/>
          <p:cNvPicPr preferRelativeResize="0"/>
          <p:nvPr/>
        </p:nvPicPr>
        <p:blipFill>
          <a:blip r:embed="rId4">
            <a:alphaModFix/>
          </a:blip>
          <a:stretch>
            <a:fillRect/>
          </a:stretch>
        </p:blipFill>
        <p:spPr>
          <a:xfrm>
            <a:off x="4700850" y="0"/>
            <a:ext cx="4183725" cy="50514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4"/>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Update Statement:</a:t>
            </a:r>
            <a:endParaRPr/>
          </a:p>
        </p:txBody>
      </p:sp>
      <p:pic>
        <p:nvPicPr>
          <p:cNvPr id="133" name="Google Shape;133;p24"/>
          <p:cNvPicPr preferRelativeResize="0"/>
          <p:nvPr/>
        </p:nvPicPr>
        <p:blipFill>
          <a:blip r:embed="rId3">
            <a:alphaModFix/>
          </a:blip>
          <a:stretch>
            <a:fillRect/>
          </a:stretch>
        </p:blipFill>
        <p:spPr>
          <a:xfrm>
            <a:off x="460200" y="1037250"/>
            <a:ext cx="7156324" cy="38215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5"/>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Delete </a:t>
            </a:r>
            <a:r>
              <a:rPr lang="en"/>
              <a:t>Statement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6"/>
          <p:cNvSpPr txBox="1"/>
          <p:nvPr>
            <p:ph type="title"/>
          </p:nvPr>
        </p:nvSpPr>
        <p:spPr>
          <a:xfrm>
            <a:off x="311700" y="166750"/>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Select </a:t>
            </a:r>
            <a:r>
              <a:rPr lang="en"/>
              <a:t>Statements</a:t>
            </a:r>
            <a:r>
              <a:rPr lang="en"/>
              <a:t> :</a:t>
            </a:r>
            <a:endParaRPr/>
          </a:p>
        </p:txBody>
      </p:sp>
      <p:pic>
        <p:nvPicPr>
          <p:cNvPr id="144" name="Google Shape;144;p26"/>
          <p:cNvPicPr preferRelativeResize="0"/>
          <p:nvPr/>
        </p:nvPicPr>
        <p:blipFill>
          <a:blip r:embed="rId3">
            <a:alphaModFix/>
          </a:blip>
          <a:stretch>
            <a:fillRect/>
          </a:stretch>
        </p:blipFill>
        <p:spPr>
          <a:xfrm>
            <a:off x="311700" y="802675"/>
            <a:ext cx="4108325" cy="4238074"/>
          </a:xfrm>
          <a:prstGeom prst="rect">
            <a:avLst/>
          </a:prstGeom>
          <a:noFill/>
          <a:ln>
            <a:noFill/>
          </a:ln>
        </p:spPr>
      </p:pic>
      <p:pic>
        <p:nvPicPr>
          <p:cNvPr id="145" name="Google Shape;145;p26"/>
          <p:cNvPicPr preferRelativeResize="0"/>
          <p:nvPr/>
        </p:nvPicPr>
        <p:blipFill>
          <a:blip r:embed="rId4">
            <a:alphaModFix/>
          </a:blip>
          <a:stretch>
            <a:fillRect/>
          </a:stretch>
        </p:blipFill>
        <p:spPr>
          <a:xfrm>
            <a:off x="4527050" y="802675"/>
            <a:ext cx="4464550" cy="423807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pic>
        <p:nvPicPr>
          <p:cNvPr id="150" name="Google Shape;150;p27"/>
          <p:cNvPicPr preferRelativeResize="0"/>
          <p:nvPr/>
        </p:nvPicPr>
        <p:blipFill>
          <a:blip r:embed="rId3">
            <a:alphaModFix/>
          </a:blip>
          <a:stretch>
            <a:fillRect/>
          </a:stretch>
        </p:blipFill>
        <p:spPr>
          <a:xfrm>
            <a:off x="612600" y="491450"/>
            <a:ext cx="7093026" cy="441017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8"/>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Strategic Benefits:</a:t>
            </a:r>
            <a:endParaRPr/>
          </a:p>
        </p:txBody>
      </p:sp>
      <p:sp>
        <p:nvSpPr>
          <p:cNvPr id="156" name="Google Shape;156;p28"/>
          <p:cNvSpPr txBox="1"/>
          <p:nvPr>
            <p:ph idx="1" type="body"/>
          </p:nvPr>
        </p:nvSpPr>
        <p:spPr>
          <a:xfrm>
            <a:off x="311700" y="1266325"/>
            <a:ext cx="8520600" cy="3302700"/>
          </a:xfrm>
          <a:prstGeom prst="rect">
            <a:avLst/>
          </a:prstGeom>
        </p:spPr>
        <p:txBody>
          <a:bodyPr anchorCtr="0" anchor="t" bIns="91425" lIns="91425" spcFirstLastPara="1" rIns="91425" wrap="square" tIns="91425">
            <a:normAutofit lnSpcReduction="20000"/>
          </a:bodyPr>
          <a:lstStyle/>
          <a:p>
            <a:pPr indent="-317500" lvl="0" marL="457200" rtl="0" algn="l">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Automated and accurate calculation of sales commissions.</a:t>
            </a:r>
            <a:endParaRPr sz="1400">
              <a:solidFill>
                <a:srgbClr val="000000"/>
              </a:solidFill>
              <a:latin typeface="Times New Roman"/>
              <a:ea typeface="Times New Roman"/>
              <a:cs typeface="Times New Roman"/>
              <a:sym typeface="Times New Roman"/>
            </a:endParaRPr>
          </a:p>
          <a:p>
            <a:pPr indent="-317500" lvl="0" marL="457200" rtl="0" algn="l">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Improved tracking of sales performance by salesperson, product, and event.</a:t>
            </a:r>
            <a:endParaRPr sz="1400">
              <a:solidFill>
                <a:srgbClr val="000000"/>
              </a:solidFill>
              <a:latin typeface="Times New Roman"/>
              <a:ea typeface="Times New Roman"/>
              <a:cs typeface="Times New Roman"/>
              <a:sym typeface="Times New Roman"/>
            </a:endParaRPr>
          </a:p>
          <a:p>
            <a:pPr indent="-317500" lvl="0" marL="457200" rtl="0" algn="l">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Enhanced inventory management to prevent stockouts and overstocking.</a:t>
            </a:r>
            <a:endParaRPr sz="1400">
              <a:solidFill>
                <a:srgbClr val="000000"/>
              </a:solidFill>
              <a:latin typeface="Times New Roman"/>
              <a:ea typeface="Times New Roman"/>
              <a:cs typeface="Times New Roman"/>
              <a:sym typeface="Times New Roman"/>
            </a:endParaRPr>
          </a:p>
          <a:p>
            <a:pPr indent="-317500" lvl="0" marL="457200" rtl="0" algn="l">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Better understanding of product performance and sales trends to inform business decisions.</a:t>
            </a:r>
            <a:endParaRPr sz="1400">
              <a:solidFill>
                <a:srgbClr val="000000"/>
              </a:solidFill>
              <a:latin typeface="Times New Roman"/>
              <a:ea typeface="Times New Roman"/>
              <a:cs typeface="Times New Roman"/>
              <a:sym typeface="Times New Roman"/>
            </a:endParaRPr>
          </a:p>
          <a:p>
            <a:pPr indent="-317500" lvl="0" marL="457200" rtl="0" algn="l">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Streamlined administrative processes and reduced errors.</a:t>
            </a:r>
            <a:endParaRPr sz="1400">
              <a:solidFill>
                <a:srgbClr val="000000"/>
              </a:solidFill>
              <a:latin typeface="Times New Roman"/>
              <a:ea typeface="Times New Roman"/>
              <a:cs typeface="Times New Roman"/>
              <a:sym typeface="Times New Roman"/>
            </a:endParaRPr>
          </a:p>
          <a:p>
            <a:pPr indent="0" lvl="0" marL="457200" rtl="0" algn="l">
              <a:spcBef>
                <a:spcPts val="0"/>
              </a:spcBef>
              <a:spcAft>
                <a:spcPts val="0"/>
              </a:spcAft>
              <a:buNone/>
            </a:pPr>
            <a:r>
              <a:t/>
            </a:r>
            <a:endParaRPr sz="1400">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b="1" lang="en" sz="3600">
                <a:solidFill>
                  <a:schemeClr val="accent1"/>
                </a:solidFill>
                <a:latin typeface="PT Sans Narrow"/>
                <a:ea typeface="PT Sans Narrow"/>
                <a:cs typeface="PT Sans Narrow"/>
                <a:sym typeface="PT Sans Narrow"/>
              </a:rPr>
              <a:t>Technical Challenges</a:t>
            </a:r>
            <a:r>
              <a:rPr b="1" lang="en" sz="3600">
                <a:solidFill>
                  <a:schemeClr val="accent1"/>
                </a:solidFill>
                <a:latin typeface="PT Sans Narrow"/>
                <a:ea typeface="PT Sans Narrow"/>
                <a:cs typeface="PT Sans Narrow"/>
                <a:sym typeface="PT Sans Narrow"/>
              </a:rPr>
              <a:t>:</a:t>
            </a:r>
            <a:endParaRPr b="1" sz="3600">
              <a:solidFill>
                <a:schemeClr val="accent1"/>
              </a:solidFill>
              <a:latin typeface="PT Sans Narrow"/>
              <a:ea typeface="PT Sans Narrow"/>
              <a:cs typeface="PT Sans Narrow"/>
              <a:sym typeface="PT Sans Narrow"/>
            </a:endParaRPr>
          </a:p>
          <a:p>
            <a:pPr indent="0" lvl="0" marL="0" rtl="0" algn="l">
              <a:spcBef>
                <a:spcPts val="0"/>
              </a:spcBef>
              <a:spcAft>
                <a:spcPts val="0"/>
              </a:spcAft>
              <a:buNone/>
            </a:pPr>
            <a:r>
              <a:t/>
            </a:r>
            <a:endParaRPr sz="1200">
              <a:solidFill>
                <a:srgbClr val="000000"/>
              </a:solidFill>
              <a:latin typeface="Times New Roman"/>
              <a:ea typeface="Times New Roman"/>
              <a:cs typeface="Times New Roman"/>
              <a:sym typeface="Times New Roman"/>
            </a:endParaRPr>
          </a:p>
          <a:p>
            <a:pPr indent="-317500" lvl="0" marL="457200" rtl="0" algn="l">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Designing and implementing the database schema correctly based on the provided model.</a:t>
            </a:r>
            <a:endParaRPr sz="1400">
              <a:solidFill>
                <a:srgbClr val="000000"/>
              </a:solidFill>
              <a:latin typeface="Times New Roman"/>
              <a:ea typeface="Times New Roman"/>
              <a:cs typeface="Times New Roman"/>
              <a:sym typeface="Times New Roman"/>
            </a:endParaRPr>
          </a:p>
          <a:p>
            <a:pPr indent="-304800" lvl="0" marL="457200" rtl="0" algn="l">
              <a:spcBef>
                <a:spcPts val="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Ensuring data integrity and consistency during data migration and ongoing operations.</a:t>
            </a:r>
            <a:endParaRPr sz="1200">
              <a:solidFill>
                <a:srgbClr val="000000"/>
              </a:solidFill>
              <a:latin typeface="Times New Roman"/>
              <a:ea typeface="Times New Roman"/>
              <a:cs typeface="Times New Roman"/>
              <a:sym typeface="Times New Roman"/>
            </a:endParaRPr>
          </a:p>
          <a:p>
            <a:pPr indent="-304800" lvl="0" marL="457200" rtl="0" algn="l">
              <a:spcBef>
                <a:spcPts val="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Developing efficient SQL queries for reporting and analysis.</a:t>
            </a:r>
            <a:endParaRPr sz="1200">
              <a:solidFill>
                <a:srgbClr val="000000"/>
              </a:solidFill>
              <a:latin typeface="Times New Roman"/>
              <a:ea typeface="Times New Roman"/>
              <a:cs typeface="Times New Roman"/>
              <a:sym typeface="Times New Roman"/>
            </a:endParaRPr>
          </a:p>
          <a:p>
            <a:pPr indent="-304800" lvl="0" marL="457200" rtl="0" algn="l">
              <a:spcBef>
                <a:spcPts val="0"/>
              </a:spcBef>
              <a:spcAft>
                <a:spcPts val="0"/>
              </a:spcAft>
              <a:buClr>
                <a:srgbClr val="000000"/>
              </a:buClr>
              <a:buSzPts val="1200"/>
              <a:buFont typeface="Times New Roman"/>
              <a:buChar char="❏"/>
            </a:pPr>
            <a:r>
              <a:rPr lang="en" sz="1200">
                <a:solidFill>
                  <a:srgbClr val="000000"/>
                </a:solidFill>
                <a:latin typeface="Times New Roman"/>
                <a:ea typeface="Times New Roman"/>
                <a:cs typeface="Times New Roman"/>
                <a:sym typeface="Times New Roman"/>
              </a:rPr>
              <a:t>User training and adoption of the new database system.</a:t>
            </a:r>
            <a:endParaRPr sz="1200">
              <a:solidFill>
                <a:srgbClr val="000000"/>
              </a:solidFill>
              <a:latin typeface="Times New Roman"/>
              <a:ea typeface="Times New Roman"/>
              <a:cs typeface="Times New Roman"/>
              <a:sym typeface="Times New Roman"/>
            </a:endParaRPr>
          </a:p>
          <a:p>
            <a:pPr indent="0" lvl="0" marL="0" rtl="0" algn="l">
              <a:spcBef>
                <a:spcPts val="0"/>
              </a:spcBef>
              <a:spcAft>
                <a:spcPts val="0"/>
              </a:spcAft>
              <a:buNone/>
            </a:pPr>
            <a:r>
              <a:t/>
            </a:r>
            <a:endParaRPr sz="1400">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1400">
              <a:solidFill>
                <a:srgbClr val="000000"/>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9"/>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a:t>
            </a:r>
            <a:r>
              <a:rPr lang="en"/>
              <a:t>: </a:t>
            </a:r>
            <a:endParaRPr/>
          </a:p>
        </p:txBody>
      </p:sp>
      <p:sp>
        <p:nvSpPr>
          <p:cNvPr id="162" name="Google Shape;162;p29"/>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1400">
              <a:solidFill>
                <a:srgbClr val="000000"/>
              </a:solidFill>
              <a:latin typeface="Times New Roman"/>
              <a:ea typeface="Times New Roman"/>
              <a:cs typeface="Times New Roman"/>
              <a:sym typeface="Times New Roman"/>
            </a:endParaRPr>
          </a:p>
          <a:p>
            <a:pPr indent="0" lvl="0" marL="0" rtl="0" algn="l">
              <a:spcBef>
                <a:spcPts val="0"/>
              </a:spcBef>
              <a:spcAft>
                <a:spcPts val="0"/>
              </a:spcAft>
              <a:buNone/>
            </a:pPr>
            <a:r>
              <a:rPr lang="en" sz="1400">
                <a:solidFill>
                  <a:srgbClr val="000000"/>
                </a:solidFill>
                <a:latin typeface="Times New Roman"/>
                <a:ea typeface="Times New Roman"/>
                <a:cs typeface="Times New Roman"/>
                <a:sym typeface="Times New Roman"/>
              </a:rPr>
              <a:t>This document provides a comprehensive database design for Foxcore Retail, leveraging the provided ER Diagram and schema. The proposed solution addresses the company's need for a robust system to track events, sales consultants, and product sales. By implementing this database, Foxcore Retail can overcome its current data management challenges, improve operational efficiency, and gain valuable insights for strategic decision-making.</a:t>
            </a:r>
            <a:endParaRPr sz="1400">
              <a:solidFill>
                <a:srgbClr val="000000"/>
              </a:solidFill>
              <a:latin typeface="Times New Roman"/>
              <a:ea typeface="Times New Roman"/>
              <a:cs typeface="Times New Roman"/>
              <a:sym typeface="Times New Roman"/>
            </a:endParaRPr>
          </a:p>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