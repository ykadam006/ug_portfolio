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6" r:id="rId3"/>
    <p:sldId id="257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575"/>
    <p:restoredTop sz="86450"/>
  </p:normalViewPr>
  <p:slideViewPr>
    <p:cSldViewPr snapToGrid="0" snapToObjects="1">
      <p:cViewPr varScale="1">
        <p:scale>
          <a:sx n="180" d="100"/>
          <a:sy n="180" d="100"/>
        </p:scale>
        <p:origin x="664" y="184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40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6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A086-415F-56D8-BAA0-7396A2E4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CAB37-94F0-0731-A637-57E4EBBB2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39951-8121-B0E5-69F5-0AC0F0316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710F8-1A60-8C6E-0919-5DE0271B5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5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53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versity Is Not Just About Gender and Race | ERE">
            <a:extLst>
              <a:ext uri="{FF2B5EF4-FFF2-40B4-BE49-F238E27FC236}">
                <a16:creationId xmlns:a16="http://schemas.microsoft.com/office/drawing/2014/main" id="{53DC4F83-3C3C-1D8A-A04D-F72FE7D40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50" y="2287599"/>
            <a:ext cx="8378689" cy="306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0A966398-79C1-D3EF-C62C-5951B218493E}"/>
              </a:ext>
            </a:extLst>
          </p:cNvPr>
          <p:cNvSpPr/>
          <p:nvPr/>
        </p:nvSpPr>
        <p:spPr>
          <a:xfrm>
            <a:off x="-1" y="0"/>
            <a:ext cx="9143999" cy="13258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70B396F-D111-94AB-838F-F2DE96A7FFD7}"/>
              </a:ext>
            </a:extLst>
          </p:cNvPr>
          <p:cNvSpPr/>
          <p:nvPr/>
        </p:nvSpPr>
        <p:spPr>
          <a:xfrm>
            <a:off x="307716" y="372811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Diversity Mean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Global Organization?</a:t>
            </a:r>
            <a:endParaRPr lang="en-US" sz="2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39F25F9-4F98-5D3E-BCB3-0F37A2886DCE}"/>
              </a:ext>
            </a:extLst>
          </p:cNvPr>
          <p:cNvSpPr/>
          <p:nvPr/>
        </p:nvSpPr>
        <p:spPr>
          <a:xfrm>
            <a:off x="307716" y="116779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 ·  HBR CASE STUDY</a:t>
            </a:r>
            <a:endParaRPr lang="en-US" sz="90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1137668-5AF6-A7E2-6423-CC72F070B03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0">
            <a:extLst>
              <a:ext uri="{FF2B5EF4-FFF2-40B4-BE49-F238E27FC236}">
                <a16:creationId xmlns:a16="http://schemas.microsoft.com/office/drawing/2014/main" id="{61250CC9-F2BE-D650-0306-3F02F3268519}"/>
              </a:ext>
            </a:extLst>
          </p:cNvPr>
          <p:cNvSpPr/>
          <p:nvPr/>
        </p:nvSpPr>
        <p:spPr>
          <a:xfrm>
            <a:off x="164592" y="4937760"/>
            <a:ext cx="8979408" cy="2057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26">
            <a:extLst>
              <a:ext uri="{FF2B5EF4-FFF2-40B4-BE49-F238E27FC236}">
                <a16:creationId xmlns:a16="http://schemas.microsoft.com/office/drawing/2014/main" id="{036BA1CE-650B-C2BD-5D6C-D7A586337D67}"/>
              </a:ext>
            </a:extLst>
          </p:cNvPr>
          <p:cNvSpPr/>
          <p:nvPr/>
        </p:nvSpPr>
        <p:spPr>
          <a:xfrm>
            <a:off x="2912165" y="1497523"/>
            <a:ext cx="3702126" cy="1091714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EBB5F16-8985-205D-7981-B1C32C092227}"/>
              </a:ext>
            </a:extLst>
          </p:cNvPr>
          <p:cNvSpPr/>
          <p:nvPr/>
        </p:nvSpPr>
        <p:spPr>
          <a:xfrm>
            <a:off x="3321260" y="16090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26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EFF53285-9E52-8605-1520-32353376B95C}"/>
              </a:ext>
            </a:extLst>
          </p:cNvPr>
          <p:cNvSpPr/>
          <p:nvPr/>
        </p:nvSpPr>
        <p:spPr>
          <a:xfrm>
            <a:off x="4571998" y="161549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Anandi Singh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Unnati Agrawal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Alyshah Kanani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8173087-BCCE-38CA-A76E-F4A4B9ACEB24}"/>
              </a:ext>
            </a:extLst>
          </p:cNvPr>
          <p:cNvSpPr/>
          <p:nvPr/>
        </p:nvSpPr>
        <p:spPr>
          <a:xfrm>
            <a:off x="7498080" y="2560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CO.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29166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3258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 ·  HBR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Diversity Mean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Global Organization?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0" y="2560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CO.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6642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Juno, a Toronto-based toy company, must fill a critical second-in-command role for its Asia operations  someone to oversee China manufacturing and Asian sales, and eventually succeed board member John Chang.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417320"/>
            <a:ext cx="0" cy="3493008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48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73007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Alex Pelletier is torn between two strong candidates. The choice forces Juno to confront a deeper question: what does diversity actually mean in a global context?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648456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1792" y="36484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all toys manufactured in mainland China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9410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39410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is Juno's #1 growth market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23367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" y="42336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Juno leadership remains overwhelmingly white &amp; male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833872" y="1444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833872" y="1719072"/>
            <a:ext cx="3063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6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833872" y="1719072"/>
            <a:ext cx="3063240" cy="310896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94360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WU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943600" y="206654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Chinese-American, born &amp; raised in New Jersey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943600" y="232257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Princeton economics grad; top consulting firm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943600" y="257860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Conversational Mandarin, limited in writing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943600" y="28346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Expert in toy manufacturing &amp; distribution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833872" y="3291840"/>
            <a:ext cx="306324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872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833872" y="3291840"/>
            <a:ext cx="3063240" cy="310896"/>
          </a:xfrm>
          <a:prstGeom prst="rect">
            <a:avLst/>
          </a:prstGeom>
          <a:solidFill>
            <a:srgbClr val="D4872A"/>
          </a:solidFill>
          <a:ln w="12700">
            <a:solidFill>
              <a:srgbClr val="D48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943600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NOLAN BENNETT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943600" y="3639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White American, 17 years in Asia (HK-based)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94360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Fluent Mandarin speaks, reads, writes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5943600" y="4187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Deep guanxi: trusted by factory managers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943600" y="4462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Seen as operations-focused, not a visionary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164592" y="4937760"/>
            <a:ext cx="8979408" cy="2057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347472" y="49560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Personal Takeaways Presentation</a:t>
            </a:r>
            <a:endParaRPr lang="en-US" sz="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OBJECTIONS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Nolan Still Wins the Argument</a:t>
            </a:r>
            <a:endParaRPr lang="en-US" sz="2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95360" cy="0"/>
          </a:xfrm>
          <a:prstGeom prst="line">
            <a:avLst/>
          </a:prstGeom>
          <a:noFill/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8631936" cy="914400"/>
          </a:xfrm>
          <a:prstGeom prst="rect">
            <a:avLst/>
          </a:prstGeom>
          <a:solidFill>
            <a:srgbClr val="1320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3657600" cy="914400"/>
          </a:xfrm>
          <a:prstGeom prst="rect">
            <a:avLst/>
          </a:prstGeom>
          <a:solidFill>
            <a:srgbClr val="0D1E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1612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72" y="131673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"Hiring Nolan breaks DEI promises that he's another white man."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13632" y="1207008"/>
            <a:ext cx="0" cy="731520"/>
          </a:xfrm>
          <a:prstGeom prst="line">
            <a:avLst/>
          </a:prstGeom>
          <a:noFill/>
          <a:ln w="1905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1161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</a:t>
            </a:r>
            <a:endParaRPr lang="en-US" sz="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1673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70832" y="1316736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is multidimensional. Nolan brings educational, cultural, and experiential diversity that the leadership team entirely lacks. A white man who speaks Mandarin, raised children in HK, and built guanxi over 17 years is NOT the status quo.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" y="2212848"/>
            <a:ext cx="8631936" cy="914400"/>
          </a:xfrm>
          <a:prstGeom prst="rect">
            <a:avLst/>
          </a:prstGeom>
          <a:solidFill>
            <a:srgbClr val="1320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6032" y="2212848"/>
            <a:ext cx="3657600" cy="914400"/>
          </a:xfrm>
          <a:prstGeom prst="rect">
            <a:avLst/>
          </a:prstGeom>
          <a:solidFill>
            <a:srgbClr val="0D1E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7472" y="22585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47472" y="241401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"Catherine is a woman of color who matters for representation."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913632" y="2304288"/>
            <a:ext cx="0" cy="731520"/>
          </a:xfrm>
          <a:prstGeom prst="line">
            <a:avLst/>
          </a:prstGeom>
          <a:noFill/>
          <a:ln w="1905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0" y="2258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</a:t>
            </a:r>
            <a:endParaRPr lang="en-US" sz="7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41401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370832" y="2414016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representation is critical, but this hire will work in China, not Toronto. Appointing a Chinese-American who cannot speak business Mandarin risks the same fate as a comparable real-world hire that failed within 2 years, damaging DEI credibility further.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56032" y="3310128"/>
            <a:ext cx="8631936" cy="914400"/>
          </a:xfrm>
          <a:prstGeom prst="rect">
            <a:avLst/>
          </a:prstGeom>
          <a:solidFill>
            <a:srgbClr val="1320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256032" y="3310128"/>
            <a:ext cx="3657600" cy="914400"/>
          </a:xfrm>
          <a:prstGeom prst="rect">
            <a:avLst/>
          </a:prstGeom>
          <a:solidFill>
            <a:srgbClr val="0D1E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7472" y="3355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47472" y="35112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"Nolan is an 'operations guy,' not a visionary leader."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913632" y="3401568"/>
            <a:ext cx="0" cy="731520"/>
          </a:xfrm>
          <a:prstGeom prst="line">
            <a:avLst/>
          </a:prstGeom>
          <a:noFill/>
          <a:ln w="1905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114800" y="3355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</a:t>
            </a:r>
            <a:endParaRPr lang="en-US" sz="7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51129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370832" y="3511296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role is #2 to John Chang for operational excellence is exactly what's needed now. John handles the </a:t>
            </a:r>
            <a:r>
              <a:rPr lang="en-US" sz="95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vision,Nolan</a:t>
            </a: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 execution. His references actually match the job spec better than Catherine's consulting background.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256032" y="4334256"/>
            <a:ext cx="8631936" cy="6583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416552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68680" y="44165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920240" y="44165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Nolan Bennett is the right leader, in the right place, at the right time.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32004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F76E-8CFD-3C85-289D-02B3D803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5D3AAA-E152-8A4D-47EC-25C28B5826A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5C6D4D-B3F2-8219-CF6E-E5C5FF2AEA8F}"/>
              </a:ext>
            </a:extLst>
          </p:cNvPr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592AB5-3213-3C6B-46C6-3B5503C871A9}"/>
              </a:ext>
            </a:extLst>
          </p:cNvPr>
          <p:cNvSpPr/>
          <p:nvPr/>
        </p:nvSpPr>
        <p:spPr>
          <a:xfrm>
            <a:off x="320040" y="137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OBJECTIONS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7ED945-5AD0-1347-621F-33BE9797B6E7}"/>
              </a:ext>
            </a:extLst>
          </p:cNvPr>
          <p:cNvSpPr/>
          <p:nvPr/>
        </p:nvSpPr>
        <p:spPr>
          <a:xfrm>
            <a:off x="32004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Recommendations and Key Takeaways</a:t>
            </a:r>
            <a:endParaRPr lang="en-US" sz="2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EB34FDE-E99F-871D-4737-D713B2309DBD}"/>
              </a:ext>
            </a:extLst>
          </p:cNvPr>
          <p:cNvSpPr/>
          <p:nvPr/>
        </p:nvSpPr>
        <p:spPr>
          <a:xfrm>
            <a:off x="320040" y="1005840"/>
            <a:ext cx="8595360" cy="0"/>
          </a:xfrm>
          <a:prstGeom prst="line">
            <a:avLst/>
          </a:prstGeom>
          <a:noFill/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188B53DE-C8A2-3822-2D1D-B018906D8DDC}"/>
              </a:ext>
            </a:extLst>
          </p:cNvPr>
          <p:cNvSpPr/>
          <p:nvPr/>
        </p:nvSpPr>
        <p:spPr>
          <a:xfrm>
            <a:off x="256032" y="4334256"/>
            <a:ext cx="8631936" cy="65836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A05BA8A-8A82-84F8-231F-6CE7F731BA34}"/>
              </a:ext>
            </a:extLst>
          </p:cNvPr>
          <p:cNvSpPr/>
          <p:nvPr/>
        </p:nvSpPr>
        <p:spPr>
          <a:xfrm>
            <a:off x="434340" y="4461509"/>
            <a:ext cx="825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With his deep local expertise and proven execution ability, Nolan is best positioned to drive results where it matters most, on the ground in China.</a:t>
            </a: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139FCD9F-53C1-8FB4-5EB4-4E6DF20B12C2}"/>
              </a:ext>
            </a:extLst>
          </p:cNvPr>
          <p:cNvSpPr/>
          <p:nvPr/>
        </p:nvSpPr>
        <p:spPr>
          <a:xfrm>
            <a:off x="32004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603C6990-A0DB-1920-8100-A136E4395056}"/>
              </a:ext>
            </a:extLst>
          </p:cNvPr>
          <p:cNvSpPr/>
          <p:nvPr/>
        </p:nvSpPr>
        <p:spPr>
          <a:xfrm>
            <a:off x="4724402" y="1177290"/>
            <a:ext cx="4000498" cy="2152650"/>
          </a:xfrm>
          <a:prstGeom prst="rect">
            <a:avLst/>
          </a:prstGeom>
          <a:solidFill>
            <a:srgbClr val="FFFFFF"/>
          </a:solidFill>
          <a:ln w="15240">
            <a:solidFill>
              <a:srgbClr val="1A6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C3FA963F-F1EA-4D0A-8040-6B836296F467}"/>
              </a:ext>
            </a:extLst>
          </p:cNvPr>
          <p:cNvSpPr/>
          <p:nvPr/>
        </p:nvSpPr>
        <p:spPr>
          <a:xfrm>
            <a:off x="4724402" y="1178053"/>
            <a:ext cx="4000498" cy="310896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F4E10978-75B2-CC96-C0B8-25DDFB9054E7}"/>
              </a:ext>
            </a:extLst>
          </p:cNvPr>
          <p:cNvSpPr/>
          <p:nvPr/>
        </p:nvSpPr>
        <p:spPr>
          <a:xfrm>
            <a:off x="434340" y="1177290"/>
            <a:ext cx="3985260" cy="2152650"/>
          </a:xfrm>
          <a:prstGeom prst="rect">
            <a:avLst/>
          </a:prstGeom>
          <a:solidFill>
            <a:srgbClr val="FFFFFF"/>
          </a:solidFill>
          <a:ln w="15240">
            <a:solidFill>
              <a:srgbClr val="1A6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5D2D36A7-67E0-786E-1F41-50A194DA24A7}"/>
              </a:ext>
            </a:extLst>
          </p:cNvPr>
          <p:cNvSpPr/>
          <p:nvPr/>
        </p:nvSpPr>
        <p:spPr>
          <a:xfrm>
            <a:off x="445769" y="1178053"/>
            <a:ext cx="3973829" cy="310896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4D3D9D3B-CA0E-7298-6284-B60583EF8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85561"/>
            <a:ext cx="201168" cy="201168"/>
          </a:xfrm>
          <a:prstGeom prst="rect">
            <a:avLst/>
          </a:prstGeom>
        </p:spPr>
      </p:pic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171E4465-D533-A619-04CF-025835AE0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24" y="2208276"/>
            <a:ext cx="201168" cy="201168"/>
          </a:xfrm>
          <a:prstGeom prst="rect">
            <a:avLst/>
          </a:prstGeom>
        </p:spPr>
      </p:pic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A353673B-5F89-F57C-0441-70945CEC7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24" y="2730991"/>
            <a:ext cx="201168" cy="201168"/>
          </a:xfrm>
          <a:prstGeom prst="rect">
            <a:avLst/>
          </a:prstGeom>
        </p:spPr>
      </p:pic>
      <p:sp>
        <p:nvSpPr>
          <p:cNvPr id="46" name="Text 11">
            <a:extLst>
              <a:ext uri="{FF2B5EF4-FFF2-40B4-BE49-F238E27FC236}">
                <a16:creationId xmlns:a16="http://schemas.microsoft.com/office/drawing/2014/main" id="{E7421142-2EAC-CF81-F693-B38D1C9BC97E}"/>
              </a:ext>
            </a:extLst>
          </p:cNvPr>
          <p:cNvSpPr/>
          <p:nvPr/>
        </p:nvSpPr>
        <p:spPr>
          <a:xfrm>
            <a:off x="868680" y="1479795"/>
            <a:ext cx="34869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Balance immediate business needs with long-term leadership goals</a:t>
            </a: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34123F70-787E-92D7-9B4A-967EE2AA2E94}"/>
              </a:ext>
            </a:extLst>
          </p:cNvPr>
          <p:cNvSpPr/>
          <p:nvPr/>
        </p:nvSpPr>
        <p:spPr>
          <a:xfrm>
            <a:off x="868680" y="2013906"/>
            <a:ext cx="34869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Prioritize on-ground effectiveness in China for short-term success</a:t>
            </a:r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B65A48BC-3AFE-BD74-62DD-E4245A72E6A9}"/>
              </a:ext>
            </a:extLst>
          </p:cNvPr>
          <p:cNvSpPr/>
          <p:nvPr/>
        </p:nvSpPr>
        <p:spPr>
          <a:xfrm>
            <a:off x="5199890" y="1996521"/>
            <a:ext cx="33583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Invest in building a diverse leadership pipeline over time</a:t>
            </a:r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77B2A662-A616-6DFB-2F50-2B5454B76662}"/>
              </a:ext>
            </a:extLst>
          </p:cNvPr>
          <p:cNvSpPr/>
          <p:nvPr/>
        </p:nvSpPr>
        <p:spPr>
          <a:xfrm>
            <a:off x="5199890" y="2533511"/>
            <a:ext cx="34869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Focus on role-context fit, not just identity-based decisions</a:t>
            </a: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F4AAC894-51A7-372D-79F7-E0FF22762E09}"/>
              </a:ext>
            </a:extLst>
          </p:cNvPr>
          <p:cNvSpPr/>
          <p:nvPr/>
        </p:nvSpPr>
        <p:spPr>
          <a:xfrm>
            <a:off x="5213108" y="1453135"/>
            <a:ext cx="318479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Do not ignore representation and leadership diversity</a:t>
            </a: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E4EA9EAF-4436-29C2-903F-0A9D7C4B64A8}"/>
              </a:ext>
            </a:extLst>
          </p:cNvPr>
          <p:cNvSpPr/>
          <p:nvPr/>
        </p:nvSpPr>
        <p:spPr>
          <a:xfrm>
            <a:off x="868680" y="2539702"/>
            <a:ext cx="34869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Value cultural &amp; experiential fit for role-critical performance</a:t>
            </a:r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338B4BA2-E299-007C-8025-39E4B5BB0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682" y="2208276"/>
            <a:ext cx="201168" cy="201168"/>
          </a:xfrm>
          <a:prstGeom prst="rect">
            <a:avLst/>
          </a:prstGeom>
        </p:spPr>
      </p:pic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7C389AFE-5EF2-9A8F-84F5-039764A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614" y="2734057"/>
            <a:ext cx="201168" cy="201168"/>
          </a:xfrm>
          <a:prstGeom prst="rect">
            <a:avLst/>
          </a:prstGeom>
        </p:spPr>
      </p:pic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8EFC907E-465C-B509-DFD4-11BC67E04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614" y="1691258"/>
            <a:ext cx="201168" cy="201168"/>
          </a:xfrm>
          <a:prstGeom prst="rect">
            <a:avLst/>
          </a:prstGeom>
        </p:spPr>
      </p:pic>
      <p:sp>
        <p:nvSpPr>
          <p:cNvPr id="60" name="Shape 6">
            <a:extLst>
              <a:ext uri="{FF2B5EF4-FFF2-40B4-BE49-F238E27FC236}">
                <a16:creationId xmlns:a16="http://schemas.microsoft.com/office/drawing/2014/main" id="{EE67DB72-83D3-58ED-5C60-A7698DF227CC}"/>
              </a:ext>
            </a:extLst>
          </p:cNvPr>
          <p:cNvSpPr/>
          <p:nvPr/>
        </p:nvSpPr>
        <p:spPr>
          <a:xfrm>
            <a:off x="256032" y="3501388"/>
            <a:ext cx="8592312" cy="705799"/>
          </a:xfrm>
          <a:prstGeom prst="rect">
            <a:avLst/>
          </a:prstGeom>
          <a:solidFill>
            <a:srgbClr val="0D1E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441C896E-803C-DB28-F178-AF034E006C82}"/>
              </a:ext>
            </a:extLst>
          </p:cNvPr>
          <p:cNvSpPr/>
          <p:nvPr/>
        </p:nvSpPr>
        <p:spPr>
          <a:xfrm>
            <a:off x="445769" y="3645425"/>
            <a:ext cx="82791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The right hire is not about who looks different, but who performs best in the given business context and role requirements.</a:t>
            </a:r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68B4A142-6B28-15CC-B17B-BA9D2D9F530A}"/>
              </a:ext>
            </a:extLst>
          </p:cNvPr>
          <p:cNvSpPr/>
          <p:nvPr/>
        </p:nvSpPr>
        <p:spPr>
          <a:xfrm>
            <a:off x="588953" y="1223763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FOCUS</a:t>
            </a:r>
            <a:endParaRPr lang="en-US" sz="160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ED7EAA16-C852-A70C-D80B-AEF0A85402BB}"/>
              </a:ext>
            </a:extLst>
          </p:cNvPr>
          <p:cNvSpPr/>
          <p:nvPr/>
        </p:nvSpPr>
        <p:spPr>
          <a:xfrm>
            <a:off x="4919614" y="1209675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FOCUS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6025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BCD2-1B2A-DDE8-A580-27F2B271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>
            <a:extLst>
              <a:ext uri="{FF2B5EF4-FFF2-40B4-BE49-F238E27FC236}">
                <a16:creationId xmlns:a16="http://schemas.microsoft.com/office/drawing/2014/main" id="{F0877BAA-7066-13C8-42E3-19AA4ABE428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DED682A0-AED4-9C92-623C-70355B623A84}"/>
              </a:ext>
            </a:extLst>
          </p:cNvPr>
          <p:cNvSpPr/>
          <p:nvPr/>
        </p:nvSpPr>
        <p:spPr>
          <a:xfrm>
            <a:off x="347472" y="34747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Diversity Mean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Global Organization?</a:t>
            </a:r>
            <a:endParaRPr lang="en-US" sz="2600" dirty="0"/>
          </a:p>
        </p:txBody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310E001A-B6B9-244D-C54D-7EB50BC1D79C}"/>
              </a:ext>
            </a:extLst>
          </p:cNvPr>
          <p:cNvSpPr/>
          <p:nvPr/>
        </p:nvSpPr>
        <p:spPr>
          <a:xfrm>
            <a:off x="164592" y="4937760"/>
            <a:ext cx="8979408" cy="2057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A511444-E215-FBF0-A9DE-25C5FE810D4E}"/>
              </a:ext>
            </a:extLst>
          </p:cNvPr>
          <p:cNvSpPr/>
          <p:nvPr/>
        </p:nvSpPr>
        <p:spPr>
          <a:xfrm>
            <a:off x="347472" y="49560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Personal Takeaways Presentation</a:t>
            </a:r>
            <a:endParaRPr lang="en-US" sz="800" dirty="0"/>
          </a:p>
        </p:txBody>
      </p:sp>
      <p:sp>
        <p:nvSpPr>
          <p:cNvPr id="98" name="Shape 26">
            <a:extLst>
              <a:ext uri="{FF2B5EF4-FFF2-40B4-BE49-F238E27FC236}">
                <a16:creationId xmlns:a16="http://schemas.microsoft.com/office/drawing/2014/main" id="{EE1229C7-3603-E63C-D855-44DE4F5AE0E6}"/>
              </a:ext>
            </a:extLst>
          </p:cNvPr>
          <p:cNvSpPr/>
          <p:nvPr/>
        </p:nvSpPr>
        <p:spPr>
          <a:xfrm>
            <a:off x="164592" y="1234440"/>
            <a:ext cx="8291836" cy="1048016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6">
            <a:extLst>
              <a:ext uri="{FF2B5EF4-FFF2-40B4-BE49-F238E27FC236}">
                <a16:creationId xmlns:a16="http://schemas.microsoft.com/office/drawing/2014/main" id="{6E54AF53-0293-BCCD-60E5-605A50FF206E}"/>
              </a:ext>
            </a:extLst>
          </p:cNvPr>
          <p:cNvSpPr/>
          <p:nvPr/>
        </p:nvSpPr>
        <p:spPr>
          <a:xfrm>
            <a:off x="852164" y="2573676"/>
            <a:ext cx="8291836" cy="1036431"/>
          </a:xfrm>
          <a:prstGeom prst="rect">
            <a:avLst/>
          </a:prstGeom>
          <a:solidFill>
            <a:srgbClr val="0D1E35"/>
          </a:solidFill>
          <a:ln w="762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3">
            <a:extLst>
              <a:ext uri="{FF2B5EF4-FFF2-40B4-BE49-F238E27FC236}">
                <a16:creationId xmlns:a16="http://schemas.microsoft.com/office/drawing/2014/main" id="{AA6263B4-4B6B-7140-D14C-30EB3EF08BD3}"/>
              </a:ext>
            </a:extLst>
          </p:cNvPr>
          <p:cNvSpPr/>
          <p:nvPr/>
        </p:nvSpPr>
        <p:spPr>
          <a:xfrm>
            <a:off x="2445489" y="132410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01" name="Text 3">
            <a:extLst>
              <a:ext uri="{FF2B5EF4-FFF2-40B4-BE49-F238E27FC236}">
                <a16:creationId xmlns:a16="http://schemas.microsoft.com/office/drawing/2014/main" id="{FD77A834-2B58-C685-2C0C-C73A067B7852}"/>
              </a:ext>
            </a:extLst>
          </p:cNvPr>
          <p:cNvSpPr/>
          <p:nvPr/>
        </p:nvSpPr>
        <p:spPr>
          <a:xfrm>
            <a:off x="4462272" y="2648216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You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44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550</Words>
  <Application>Microsoft Macintosh PowerPoint</Application>
  <PresentationFormat>On-screen Show (16:9)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Unnati Agrawal</cp:lastModifiedBy>
  <cp:revision>5</cp:revision>
  <dcterms:created xsi:type="dcterms:W3CDTF">2026-04-07T04:53:53Z</dcterms:created>
  <dcterms:modified xsi:type="dcterms:W3CDTF">2026-04-08T00:37:12Z</dcterms:modified>
</cp:coreProperties>
</file>